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autoCompressPictures="0">
  <p:sldMasterIdLst>
    <p:sldMasterId id="2147483954" r:id="rId4"/>
  </p:sldMasterIdLst>
  <p:notesMasterIdLst>
    <p:notesMasterId r:id="rId18"/>
  </p:notesMasterIdLst>
  <p:handoutMasterIdLst>
    <p:handoutMasterId r:id="rId19"/>
  </p:handoutMasterIdLst>
  <p:sldIdLst>
    <p:sldId id="261" r:id="rId5"/>
    <p:sldId id="314" r:id="rId6"/>
    <p:sldId id="315" r:id="rId7"/>
    <p:sldId id="316" r:id="rId8"/>
    <p:sldId id="317" r:id="rId9"/>
    <p:sldId id="318" r:id="rId10"/>
    <p:sldId id="320" r:id="rId11"/>
    <p:sldId id="322" r:id="rId12"/>
    <p:sldId id="323" r:id="rId13"/>
    <p:sldId id="324" r:id="rId14"/>
    <p:sldId id="325" r:id="rId15"/>
    <p:sldId id="326" r:id="rId16"/>
    <p:sldId id="32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  <a:srgbClr val="87175F"/>
    <a:srgbClr val="EEC621"/>
    <a:srgbClr val="E58C09"/>
    <a:srgbClr val="43467B"/>
    <a:srgbClr val="AEA422"/>
    <a:srgbClr val="F69E1D"/>
    <a:srgbClr val="E19E6B"/>
    <a:srgbClr val="75503A"/>
    <a:srgbClr val="DDB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4" autoAdjust="0"/>
  </p:normalViewPr>
  <p:slideViewPr>
    <p:cSldViewPr>
      <p:cViewPr varScale="1">
        <p:scale>
          <a:sx n="85" d="100"/>
          <a:sy n="85" d="100"/>
        </p:scale>
        <p:origin x="590" y="67"/>
      </p:cViewPr>
      <p:guideLst/>
    </p:cSldViewPr>
  </p:slideViewPr>
  <p:outlineViewPr>
    <p:cViewPr>
      <p:scale>
        <a:sx n="33" d="100"/>
        <a:sy n="33" d="100"/>
      </p:scale>
      <p:origin x="0" y="-208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187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leng\OneDrive\Documents\CAR%20SALES%20PIVOTS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leng\OneDrive\Documents\CAR%20SALES%20PIVOTS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leng\OneDrive\Documents\CAR%20SALES%20PIVOTS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leng\OneDrive\Documents\CAR%20SALES%20PIVOTS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leng\OneDrive\Documents\CAR%20SALES%20PIVOTS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leng\OneDrive\Documents\CAR%20SALES%20PIVOTS.csv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leng\OneDrive\Documents\CAR%20SALES%20PIVOTS.csv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leng\OneDrive\Documents\CAR%20SALES%20PIVOTS.csv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leng\OneDrive\Documents\CAR%20SALES%20PIVOTS.csv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leng\OneDrive\Documents\CAR%20SALES%20PIVOTS.csv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leng\OneDrive\Documents\CAR%20SALES%20PIVOTS.csv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leng\OneDrive\Documents\CAR%20SALES%20PIVOTS.csv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[CAR SALES PIVOTS.csv]Sheet1!PivotTable2</c:name>
    <c:fmtId val="7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</c:marker>
      </c:pivotFmt>
      <c:pivotFmt>
        <c:idx val="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2406517935258092"/>
          <c:y val="2.2685185185185187E-2"/>
          <c:w val="0.72971237970253722"/>
          <c:h val="0.432444954797316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Sheet1!$A$4:$A$47</c:f>
              <c:strCache>
                <c:ptCount val="43"/>
                <c:pt idx="0">
                  <c:v>airstream</c:v>
                </c:pt>
                <c:pt idx="1">
                  <c:v>Aston Martin</c:v>
                </c:pt>
                <c:pt idx="2">
                  <c:v>Audi</c:v>
                </c:pt>
                <c:pt idx="3">
                  <c:v>Bentley</c:v>
                </c:pt>
                <c:pt idx="4">
                  <c:v>BMW</c:v>
                </c:pt>
                <c:pt idx="5">
                  <c:v>Buick</c:v>
                </c:pt>
                <c:pt idx="6">
                  <c:v>Cadillac</c:v>
                </c:pt>
                <c:pt idx="7">
                  <c:v>Chevrolet</c:v>
                </c:pt>
                <c:pt idx="8">
                  <c:v>Chrysler</c:v>
                </c:pt>
                <c:pt idx="9">
                  <c:v>Dodge</c:v>
                </c:pt>
                <c:pt idx="10">
                  <c:v>Ferrari</c:v>
                </c:pt>
                <c:pt idx="11">
                  <c:v>Ford</c:v>
                </c:pt>
                <c:pt idx="12">
                  <c:v>GMC</c:v>
                </c:pt>
                <c:pt idx="13">
                  <c:v>Honda</c:v>
                </c:pt>
                <c:pt idx="14">
                  <c:v>HUMMER</c:v>
                </c:pt>
                <c:pt idx="15">
                  <c:v>Hyundai</c:v>
                </c:pt>
                <c:pt idx="16">
                  <c:v>Infiniti</c:v>
                </c:pt>
                <c:pt idx="17">
                  <c:v>Jaguar</c:v>
                </c:pt>
                <c:pt idx="18">
                  <c:v>Jeep</c:v>
                </c:pt>
                <c:pt idx="19">
                  <c:v>Kia</c:v>
                </c:pt>
                <c:pt idx="20">
                  <c:v>Lamborghini</c:v>
                </c:pt>
                <c:pt idx="21">
                  <c:v>Land Rover</c:v>
                </c:pt>
                <c:pt idx="22">
                  <c:v>Lexus</c:v>
                </c:pt>
                <c:pt idx="23">
                  <c:v>Lincoln</c:v>
                </c:pt>
                <c:pt idx="24">
                  <c:v>Maserati</c:v>
                </c:pt>
                <c:pt idx="25">
                  <c:v>Mazda</c:v>
                </c:pt>
                <c:pt idx="26">
                  <c:v>Mercedes-Benz</c:v>
                </c:pt>
                <c:pt idx="27">
                  <c:v>Mercury</c:v>
                </c:pt>
                <c:pt idx="28">
                  <c:v>MINI</c:v>
                </c:pt>
                <c:pt idx="29">
                  <c:v>Mitsubishi</c:v>
                </c:pt>
                <c:pt idx="30">
                  <c:v>Nissan</c:v>
                </c:pt>
                <c:pt idx="31">
                  <c:v>null</c:v>
                </c:pt>
                <c:pt idx="32">
                  <c:v>Pontiac</c:v>
                </c:pt>
                <c:pt idx="33">
                  <c:v>Porsche</c:v>
                </c:pt>
                <c:pt idx="34">
                  <c:v>Ram</c:v>
                </c:pt>
                <c:pt idx="35">
                  <c:v>Rolls-Royce</c:v>
                </c:pt>
                <c:pt idx="36">
                  <c:v>Saab</c:v>
                </c:pt>
                <c:pt idx="37">
                  <c:v>Scion</c:v>
                </c:pt>
                <c:pt idx="38">
                  <c:v>Subaru</c:v>
                </c:pt>
                <c:pt idx="39">
                  <c:v>Tesla</c:v>
                </c:pt>
                <c:pt idx="40">
                  <c:v>Toyota</c:v>
                </c:pt>
                <c:pt idx="41">
                  <c:v>Volkswagen</c:v>
                </c:pt>
                <c:pt idx="42">
                  <c:v>Volvo</c:v>
                </c:pt>
              </c:strCache>
            </c:strRef>
          </c:cat>
          <c:val>
            <c:numRef>
              <c:f>Sheet1!$B$4:$B$47</c:f>
              <c:numCache>
                <c:formatCode>General</c:formatCode>
                <c:ptCount val="43"/>
                <c:pt idx="0">
                  <c:v>1</c:v>
                </c:pt>
                <c:pt idx="1">
                  <c:v>3</c:v>
                </c:pt>
                <c:pt idx="2">
                  <c:v>15</c:v>
                </c:pt>
                <c:pt idx="3">
                  <c:v>9</c:v>
                </c:pt>
                <c:pt idx="4">
                  <c:v>132</c:v>
                </c:pt>
                <c:pt idx="5">
                  <c:v>2</c:v>
                </c:pt>
                <c:pt idx="6">
                  <c:v>13</c:v>
                </c:pt>
                <c:pt idx="7">
                  <c:v>142</c:v>
                </c:pt>
                <c:pt idx="8">
                  <c:v>20</c:v>
                </c:pt>
                <c:pt idx="9">
                  <c:v>41</c:v>
                </c:pt>
                <c:pt idx="10">
                  <c:v>1</c:v>
                </c:pt>
                <c:pt idx="11">
                  <c:v>233</c:v>
                </c:pt>
                <c:pt idx="12">
                  <c:v>37</c:v>
                </c:pt>
                <c:pt idx="13">
                  <c:v>7</c:v>
                </c:pt>
                <c:pt idx="14">
                  <c:v>16</c:v>
                </c:pt>
                <c:pt idx="15">
                  <c:v>11</c:v>
                </c:pt>
                <c:pt idx="16">
                  <c:v>20</c:v>
                </c:pt>
                <c:pt idx="17">
                  <c:v>1</c:v>
                </c:pt>
                <c:pt idx="18">
                  <c:v>42</c:v>
                </c:pt>
                <c:pt idx="19">
                  <c:v>1</c:v>
                </c:pt>
                <c:pt idx="20">
                  <c:v>1</c:v>
                </c:pt>
                <c:pt idx="21">
                  <c:v>14</c:v>
                </c:pt>
                <c:pt idx="22">
                  <c:v>14</c:v>
                </c:pt>
                <c:pt idx="23">
                  <c:v>8</c:v>
                </c:pt>
                <c:pt idx="24">
                  <c:v>5</c:v>
                </c:pt>
                <c:pt idx="25">
                  <c:v>4</c:v>
                </c:pt>
                <c:pt idx="26">
                  <c:v>64</c:v>
                </c:pt>
                <c:pt idx="27">
                  <c:v>1</c:v>
                </c:pt>
                <c:pt idx="28">
                  <c:v>5</c:v>
                </c:pt>
                <c:pt idx="29">
                  <c:v>1</c:v>
                </c:pt>
                <c:pt idx="30">
                  <c:v>63</c:v>
                </c:pt>
                <c:pt idx="31">
                  <c:v>30</c:v>
                </c:pt>
                <c:pt idx="32">
                  <c:v>1</c:v>
                </c:pt>
                <c:pt idx="33">
                  <c:v>24</c:v>
                </c:pt>
                <c:pt idx="34">
                  <c:v>21</c:v>
                </c:pt>
                <c:pt idx="35">
                  <c:v>3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49</c:v>
                </c:pt>
                <c:pt idx="41">
                  <c:v>7</c:v>
                </c:pt>
                <c:pt idx="4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09-416A-9A8C-4542C79D69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866670320"/>
        <c:axId val="866690064"/>
      </c:barChart>
      <c:catAx>
        <c:axId val="8666703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/>
                  <a:t>Make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6690064"/>
        <c:crosses val="autoZero"/>
        <c:auto val="1"/>
        <c:lblAlgn val="ctr"/>
        <c:lblOffset val="100"/>
        <c:noMultiLvlLbl val="0"/>
      </c:catAx>
      <c:valAx>
        <c:axId val="866690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/>
                  <a:t>Number of cars sold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6670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[CAR SALES PIVOTS.csv]Sheet2!PivotTable4</c:name>
    <c:fmtId val="7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lt1">
                  <a:lumMod val="8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  <a:round/>
            </a:ln>
            <a:effectLst/>
          </c:spPr>
        </c:marker>
      </c:pivotFmt>
      <c:pivotFmt>
        <c:idx val="1"/>
        <c:spPr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marker>
          <c:symbol val="none"/>
        </c:marker>
      </c:pivotFmt>
      <c:pivotFmt>
        <c:idx val="2"/>
        <c:spPr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marker>
          <c:symbol val="none"/>
        </c:marker>
      </c:pivotFmt>
    </c:pivotFmts>
    <c:plotArea>
      <c:layout/>
      <c:areaChart>
        <c:grouping val="standar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spPr>
            <a:gradFill>
              <a:gsLst>
                <a:gs pos="100000">
                  <a:schemeClr val="accent2"/>
                </a:gs>
                <a:gs pos="0">
                  <a:schemeClr val="accent2">
                    <a:lumMod val="75000"/>
                  </a:schemeClr>
                </a:gs>
              </a:gsLst>
              <a:lin ang="0" scaled="1"/>
            </a:gradFill>
            <a:ln>
              <a:noFill/>
            </a:ln>
            <a:effectLst>
              <a:innerShdw dist="12700" dir="16200000">
                <a:schemeClr val="lt1">
                  <a:alpha val="75000"/>
                </a:schemeClr>
              </a:innerShdw>
            </a:effectLst>
          </c:spPr>
          <c:cat>
            <c:strRef>
              <c:f>Sheet2!$A$4:$A$230</c:f>
              <c:strCache>
                <c:ptCount val="226"/>
                <c:pt idx="0">
                  <c:v>200</c:v>
                </c:pt>
                <c:pt idx="1">
                  <c:v>300</c:v>
                </c:pt>
                <c:pt idx="2">
                  <c:v>911</c:v>
                </c:pt>
                <c:pt idx="3">
                  <c:v>1500</c:v>
                </c:pt>
                <c:pt idx="4">
                  <c:v>2500</c:v>
                </c:pt>
                <c:pt idx="5">
                  <c:v>3500</c:v>
                </c:pt>
                <c:pt idx="6">
                  <c:v>1 Series</c:v>
                </c:pt>
                <c:pt idx="7">
                  <c:v>2 Series</c:v>
                </c:pt>
                <c:pt idx="8">
                  <c:v>3 Series</c:v>
                </c:pt>
                <c:pt idx="9">
                  <c:v>3 Series Gran Turismo</c:v>
                </c:pt>
                <c:pt idx="10">
                  <c:v>350Z</c:v>
                </c:pt>
                <c:pt idx="11">
                  <c:v>370Z</c:v>
                </c:pt>
                <c:pt idx="12">
                  <c:v>4 Series</c:v>
                </c:pt>
                <c:pt idx="13">
                  <c:v>4Runner</c:v>
                </c:pt>
                <c:pt idx="14">
                  <c:v>5 Series</c:v>
                </c:pt>
                <c:pt idx="15">
                  <c:v>6 Series</c:v>
                </c:pt>
                <c:pt idx="16">
                  <c:v>6 Series Gran Coupe</c:v>
                </c:pt>
                <c:pt idx="17">
                  <c:v>7 Series</c:v>
                </c:pt>
                <c:pt idx="18">
                  <c:v>750li</c:v>
                </c:pt>
                <c:pt idx="19">
                  <c:v>A4</c:v>
                </c:pt>
                <c:pt idx="20">
                  <c:v>A7</c:v>
                </c:pt>
                <c:pt idx="21">
                  <c:v>A8</c:v>
                </c:pt>
                <c:pt idx="22">
                  <c:v>Accent</c:v>
                </c:pt>
                <c:pt idx="23">
                  <c:v>Accord</c:v>
                </c:pt>
                <c:pt idx="24">
                  <c:v>ActiveHybrid 7</c:v>
                </c:pt>
                <c:pt idx="25">
                  <c:v>Altima</c:v>
                </c:pt>
                <c:pt idx="26">
                  <c:v>Armada</c:v>
                </c:pt>
                <c:pt idx="27">
                  <c:v>Avalanche</c:v>
                </c:pt>
                <c:pt idx="28">
                  <c:v>Avenger</c:v>
                </c:pt>
                <c:pt idx="29">
                  <c:v>Beetle</c:v>
                </c:pt>
                <c:pt idx="30">
                  <c:v>Black Diamond Avalanche</c:v>
                </c:pt>
                <c:pt idx="31">
                  <c:v>California</c:v>
                </c:pt>
                <c:pt idx="32">
                  <c:v>Camaro</c:v>
                </c:pt>
                <c:pt idx="33">
                  <c:v>Camry</c:v>
                </c:pt>
                <c:pt idx="34">
                  <c:v>Captiva Sport</c:v>
                </c:pt>
                <c:pt idx="35">
                  <c:v>Cayenne</c:v>
                </c:pt>
                <c:pt idx="36">
                  <c:v>Cayman</c:v>
                </c:pt>
                <c:pt idx="37">
                  <c:v>C-Class</c:v>
                </c:pt>
                <c:pt idx="38">
                  <c:v>Charger</c:v>
                </c:pt>
                <c:pt idx="39">
                  <c:v>Civic</c:v>
                </c:pt>
                <c:pt idx="40">
                  <c:v>CL-Class</c:v>
                </c:pt>
                <c:pt idx="41">
                  <c:v>CLS-Class</c:v>
                </c:pt>
                <c:pt idx="42">
                  <c:v>C-Max Hybrid</c:v>
                </c:pt>
                <c:pt idx="43">
                  <c:v>Cobalt</c:v>
                </c:pt>
                <c:pt idx="44">
                  <c:v>Compass</c:v>
                </c:pt>
                <c:pt idx="45">
                  <c:v>Continental Flying Spur</c:v>
                </c:pt>
                <c:pt idx="46">
                  <c:v>Continental GT</c:v>
                </c:pt>
                <c:pt idx="47">
                  <c:v>Continental GTC</c:v>
                </c:pt>
                <c:pt idx="48">
                  <c:v>Cooper</c:v>
                </c:pt>
                <c:pt idx="49">
                  <c:v>Cooper Countryman</c:v>
                </c:pt>
                <c:pt idx="50">
                  <c:v>Corolla</c:v>
                </c:pt>
                <c:pt idx="51">
                  <c:v>Corvette</c:v>
                </c:pt>
                <c:pt idx="52">
                  <c:v>Corvette Stingray</c:v>
                </c:pt>
                <c:pt idx="53">
                  <c:v>Cruze</c:v>
                </c:pt>
                <c:pt idx="54">
                  <c:v>CTS</c:v>
                </c:pt>
                <c:pt idx="55">
                  <c:v>CTS Coupe</c:v>
                </c:pt>
                <c:pt idx="56">
                  <c:v>CTS-V</c:v>
                </c:pt>
                <c:pt idx="57">
                  <c:v>CTS-V Wagon</c:v>
                </c:pt>
                <c:pt idx="58">
                  <c:v>DB9</c:v>
                </c:pt>
                <c:pt idx="59">
                  <c:v>E-Class</c:v>
                </c:pt>
                <c:pt idx="60">
                  <c:v>Econoline Cargo</c:v>
                </c:pt>
                <c:pt idx="61">
                  <c:v>Econoline Wagon</c:v>
                </c:pt>
                <c:pt idx="62">
                  <c:v>Edge</c:v>
                </c:pt>
                <c:pt idx="63">
                  <c:v>Eldorado</c:v>
                </c:pt>
                <c:pt idx="64">
                  <c:v>Equinox</c:v>
                </c:pt>
                <c:pt idx="65">
                  <c:v>Equus</c:v>
                </c:pt>
                <c:pt idx="66">
                  <c:v>ES 350</c:v>
                </c:pt>
                <c:pt idx="67">
                  <c:v>Escalade</c:v>
                </c:pt>
                <c:pt idx="68">
                  <c:v>Escalade ESV</c:v>
                </c:pt>
                <c:pt idx="69">
                  <c:v>Escape</c:v>
                </c:pt>
                <c:pt idx="70">
                  <c:v>E-Series Van</c:v>
                </c:pt>
                <c:pt idx="71">
                  <c:v>E-Series Wagon</c:v>
                </c:pt>
                <c:pt idx="72">
                  <c:v>Excursion</c:v>
                </c:pt>
                <c:pt idx="73">
                  <c:v>Expedition</c:v>
                </c:pt>
                <c:pt idx="74">
                  <c:v>Explorer</c:v>
                </c:pt>
                <c:pt idx="75">
                  <c:v>Express</c:v>
                </c:pt>
                <c:pt idx="76">
                  <c:v>Express Cargo</c:v>
                </c:pt>
                <c:pt idx="77">
                  <c:v>F-150</c:v>
                </c:pt>
                <c:pt idx="78">
                  <c:v>F-250 Super Duty</c:v>
                </c:pt>
                <c:pt idx="79">
                  <c:v>F-350 Super Duty</c:v>
                </c:pt>
                <c:pt idx="80">
                  <c:v>F-450 Super Duty</c:v>
                </c:pt>
                <c:pt idx="81">
                  <c:v>Fiesta</c:v>
                </c:pt>
                <c:pt idx="82">
                  <c:v>Firebird</c:v>
                </c:pt>
                <c:pt idx="83">
                  <c:v>Flex</c:v>
                </c:pt>
                <c:pt idx="84">
                  <c:v>Focus</c:v>
                </c:pt>
                <c:pt idx="85">
                  <c:v>FR-S</c:v>
                </c:pt>
                <c:pt idx="86">
                  <c:v>Fusion</c:v>
                </c:pt>
                <c:pt idx="87">
                  <c:v>Fusion Energi</c:v>
                </c:pt>
                <c:pt idx="88">
                  <c:v>Fusion Hybrid</c:v>
                </c:pt>
                <c:pt idx="89">
                  <c:v>FX</c:v>
                </c:pt>
                <c:pt idx="90">
                  <c:v>G Sedan</c:v>
                </c:pt>
                <c:pt idx="91">
                  <c:v>g3500</c:v>
                </c:pt>
                <c:pt idx="92">
                  <c:v>Gallardo</c:v>
                </c:pt>
                <c:pt idx="93">
                  <c:v>G-Class</c:v>
                </c:pt>
                <c:pt idx="94">
                  <c:v>Genesis Coupe</c:v>
                </c:pt>
                <c:pt idx="95">
                  <c:v>Ghost</c:v>
                </c:pt>
                <c:pt idx="96">
                  <c:v>GL-Class</c:v>
                </c:pt>
                <c:pt idx="97">
                  <c:v>GLK-Class</c:v>
                </c:pt>
                <c:pt idx="98">
                  <c:v>Grand Caravan</c:v>
                </c:pt>
                <c:pt idx="99">
                  <c:v>Grand Cherokee</c:v>
                </c:pt>
                <c:pt idx="100">
                  <c:v>GranTurismo</c:v>
                </c:pt>
                <c:pt idx="101">
                  <c:v>GranTurismo Convertible</c:v>
                </c:pt>
                <c:pt idx="102">
                  <c:v>GS 350</c:v>
                </c:pt>
                <c:pt idx="103">
                  <c:v>GT-R</c:v>
                </c:pt>
                <c:pt idx="104">
                  <c:v>H2</c:v>
                </c:pt>
                <c:pt idx="105">
                  <c:v>H2 SUT</c:v>
                </c:pt>
                <c:pt idx="106">
                  <c:v>H3T</c:v>
                </c:pt>
                <c:pt idx="107">
                  <c:v>Highlander</c:v>
                </c:pt>
                <c:pt idx="108">
                  <c:v>Impala</c:v>
                </c:pt>
                <c:pt idx="109">
                  <c:v>Impala Limited</c:v>
                </c:pt>
                <c:pt idx="110">
                  <c:v>interstate</c:v>
                </c:pt>
                <c:pt idx="111">
                  <c:v>IS 250</c:v>
                </c:pt>
                <c:pt idx="112">
                  <c:v>Jetta</c:v>
                </c:pt>
                <c:pt idx="113">
                  <c:v>Journey</c:v>
                </c:pt>
                <c:pt idx="114">
                  <c:v>Lancer Evolution</c:v>
                </c:pt>
                <c:pt idx="115">
                  <c:v>Liberty</c:v>
                </c:pt>
                <c:pt idx="116">
                  <c:v>lr3</c:v>
                </c:pt>
                <c:pt idx="117">
                  <c:v>LX 570</c:v>
                </c:pt>
                <c:pt idx="118">
                  <c:v>M</c:v>
                </c:pt>
                <c:pt idx="119">
                  <c:v>M3</c:v>
                </c:pt>
                <c:pt idx="120">
                  <c:v>M4</c:v>
                </c:pt>
                <c:pt idx="121">
                  <c:v>M5</c:v>
                </c:pt>
                <c:pt idx="122">
                  <c:v>M6</c:v>
                </c:pt>
                <c:pt idx="123">
                  <c:v>M6 Gran Coupe</c:v>
                </c:pt>
                <c:pt idx="124">
                  <c:v>Marauder</c:v>
                </c:pt>
                <c:pt idx="125">
                  <c:v>Matrix</c:v>
                </c:pt>
                <c:pt idx="126">
                  <c:v>Maxima</c:v>
                </c:pt>
                <c:pt idx="127">
                  <c:v>Mazda2</c:v>
                </c:pt>
                <c:pt idx="128">
                  <c:v>Mazda3</c:v>
                </c:pt>
                <c:pt idx="129">
                  <c:v>M-Class</c:v>
                </c:pt>
                <c:pt idx="130">
                  <c:v>MKT</c:v>
                </c:pt>
                <c:pt idx="131">
                  <c:v>MKZ</c:v>
                </c:pt>
                <c:pt idx="132">
                  <c:v>Model S</c:v>
                </c:pt>
                <c:pt idx="133">
                  <c:v>Monte Carlo</c:v>
                </c:pt>
                <c:pt idx="134">
                  <c:v>Murano</c:v>
                </c:pt>
                <c:pt idx="135">
                  <c:v>Mustang</c:v>
                </c:pt>
                <c:pt idx="136">
                  <c:v>Mustang SVT Cobra</c:v>
                </c:pt>
                <c:pt idx="137">
                  <c:v>Navigator</c:v>
                </c:pt>
                <c:pt idx="138">
                  <c:v>null</c:v>
                </c:pt>
                <c:pt idx="139">
                  <c:v>NV</c:v>
                </c:pt>
                <c:pt idx="140">
                  <c:v>Odyssey</c:v>
                </c:pt>
                <c:pt idx="141">
                  <c:v>Optima</c:v>
                </c:pt>
                <c:pt idx="142">
                  <c:v>Outback</c:v>
                </c:pt>
                <c:pt idx="143">
                  <c:v>Panamera</c:v>
                </c:pt>
                <c:pt idx="144">
                  <c:v>Pathfinder</c:v>
                </c:pt>
                <c:pt idx="145">
                  <c:v>Patriot</c:v>
                </c:pt>
                <c:pt idx="146">
                  <c:v>PT Cruiser</c:v>
                </c:pt>
                <c:pt idx="147">
                  <c:v>Q60 Convertible</c:v>
                </c:pt>
                <c:pt idx="148">
                  <c:v>Q7</c:v>
                </c:pt>
                <c:pt idx="149">
                  <c:v>Quattroporte</c:v>
                </c:pt>
                <c:pt idx="150">
                  <c:v>Quest</c:v>
                </c:pt>
                <c:pt idx="151">
                  <c:v>QX</c:v>
                </c:pt>
                <c:pt idx="152">
                  <c:v>QX56</c:v>
                </c:pt>
                <c:pt idx="153">
                  <c:v>QX60</c:v>
                </c:pt>
                <c:pt idx="154">
                  <c:v>QX70</c:v>
                </c:pt>
                <c:pt idx="155">
                  <c:v>QX80</c:v>
                </c:pt>
                <c:pt idx="156">
                  <c:v>Ram Pickup 1500</c:v>
                </c:pt>
                <c:pt idx="157">
                  <c:v>Ram Pickup 2500</c:v>
                </c:pt>
                <c:pt idx="158">
                  <c:v>Ram Pickup 3500</c:v>
                </c:pt>
                <c:pt idx="159">
                  <c:v>Range Rover</c:v>
                </c:pt>
                <c:pt idx="160">
                  <c:v>Range Rover Sport</c:v>
                </c:pt>
                <c:pt idx="161">
                  <c:v>Ranger</c:v>
                </c:pt>
                <c:pt idx="162">
                  <c:v>Rapide</c:v>
                </c:pt>
                <c:pt idx="163">
                  <c:v>RAV4</c:v>
                </c:pt>
                <c:pt idx="164">
                  <c:v>Regal</c:v>
                </c:pt>
                <c:pt idx="165">
                  <c:v>Rogue Select</c:v>
                </c:pt>
                <c:pt idx="166">
                  <c:v>RX 330</c:v>
                </c:pt>
                <c:pt idx="167">
                  <c:v>S2000</c:v>
                </c:pt>
                <c:pt idx="168">
                  <c:v>S5</c:v>
                </c:pt>
                <c:pt idx="169">
                  <c:v>S60</c:v>
                </c:pt>
                <c:pt idx="170">
                  <c:v>S7</c:v>
                </c:pt>
                <c:pt idx="171">
                  <c:v>Santa Fe</c:v>
                </c:pt>
                <c:pt idx="172">
                  <c:v>Santa Fe Sport</c:v>
                </c:pt>
                <c:pt idx="173">
                  <c:v>Savana</c:v>
                </c:pt>
                <c:pt idx="174">
                  <c:v>Savana Cargo</c:v>
                </c:pt>
                <c:pt idx="175">
                  <c:v>S-Class</c:v>
                </c:pt>
                <c:pt idx="176">
                  <c:v>Sentra</c:v>
                </c:pt>
                <c:pt idx="177">
                  <c:v>Sequoia</c:v>
                </c:pt>
                <c:pt idx="178">
                  <c:v>Sienna</c:v>
                </c:pt>
                <c:pt idx="179">
                  <c:v>Sierra 1500</c:v>
                </c:pt>
                <c:pt idx="180">
                  <c:v>Sierra 2500HD</c:v>
                </c:pt>
                <c:pt idx="181">
                  <c:v>Sierra 2500HD Classic</c:v>
                </c:pt>
                <c:pt idx="182">
                  <c:v>Sierra 3500HD</c:v>
                </c:pt>
                <c:pt idx="183">
                  <c:v>Silverado 1500</c:v>
                </c:pt>
                <c:pt idx="184">
                  <c:v>Silverado 2500HD</c:v>
                </c:pt>
                <c:pt idx="185">
                  <c:v>Silverado 3500</c:v>
                </c:pt>
                <c:pt idx="186">
                  <c:v>Silverado 3500HD</c:v>
                </c:pt>
                <c:pt idx="187">
                  <c:v>Sonata</c:v>
                </c:pt>
                <c:pt idx="188">
                  <c:v>Sonic</c:v>
                </c:pt>
                <c:pt idx="189">
                  <c:v>Spark</c:v>
                </c:pt>
                <c:pt idx="190">
                  <c:v>Sprinter</c:v>
                </c:pt>
                <c:pt idx="191">
                  <c:v>Sprinter Cargo</c:v>
                </c:pt>
                <c:pt idx="192">
                  <c:v>SRX</c:v>
                </c:pt>
                <c:pt idx="193">
                  <c:v>Suburban</c:v>
                </c:pt>
                <c:pt idx="194">
                  <c:v>Tacoma</c:v>
                </c:pt>
                <c:pt idx="195">
                  <c:v>Tahoe</c:v>
                </c:pt>
                <c:pt idx="196">
                  <c:v>Taurus</c:v>
                </c:pt>
                <c:pt idx="197">
                  <c:v>Tiguan</c:v>
                </c:pt>
                <c:pt idx="198">
                  <c:v>Titan</c:v>
                </c:pt>
                <c:pt idx="199">
                  <c:v>Touareg</c:v>
                </c:pt>
                <c:pt idx="200">
                  <c:v>Town and Country</c:v>
                </c:pt>
                <c:pt idx="201">
                  <c:v>Town Car</c:v>
                </c:pt>
                <c:pt idx="202">
                  <c:v>Transit Connect</c:v>
                </c:pt>
                <c:pt idx="203">
                  <c:v>Traverse</c:v>
                </c:pt>
                <c:pt idx="204">
                  <c:v>Tribute</c:v>
                </c:pt>
                <c:pt idx="205">
                  <c:v>Tundra</c:v>
                </c:pt>
                <c:pt idx="206">
                  <c:v>V8 Vantage</c:v>
                </c:pt>
                <c:pt idx="207">
                  <c:v>Veloster</c:v>
                </c:pt>
                <c:pt idx="208">
                  <c:v>Versa</c:v>
                </c:pt>
                <c:pt idx="209">
                  <c:v>Versa Note</c:v>
                </c:pt>
                <c:pt idx="210">
                  <c:v>Viper</c:v>
                </c:pt>
                <c:pt idx="211">
                  <c:v>Volt</c:v>
                </c:pt>
                <c:pt idx="212">
                  <c:v>Wrangler</c:v>
                </c:pt>
                <c:pt idx="213">
                  <c:v>X1</c:v>
                </c:pt>
                <c:pt idx="214">
                  <c:v>X3</c:v>
                </c:pt>
                <c:pt idx="215">
                  <c:v>X5</c:v>
                </c:pt>
                <c:pt idx="216">
                  <c:v>X6</c:v>
                </c:pt>
                <c:pt idx="217">
                  <c:v>X6 M</c:v>
                </c:pt>
                <c:pt idx="218">
                  <c:v>XC90</c:v>
                </c:pt>
                <c:pt idx="219">
                  <c:v>XF</c:v>
                </c:pt>
                <c:pt idx="220">
                  <c:v>Xterra</c:v>
                </c:pt>
                <c:pt idx="221">
                  <c:v>Yaris</c:v>
                </c:pt>
                <c:pt idx="222">
                  <c:v>Yukon</c:v>
                </c:pt>
                <c:pt idx="223">
                  <c:v>Yukon XL</c:v>
                </c:pt>
                <c:pt idx="224">
                  <c:v>Z4</c:v>
                </c:pt>
                <c:pt idx="225">
                  <c:v>2025/09/05</c:v>
                </c:pt>
              </c:strCache>
            </c:strRef>
          </c:cat>
          <c:val>
            <c:numRef>
              <c:f>Sheet2!$B$4:$B$230</c:f>
              <c:numCache>
                <c:formatCode>General</c:formatCode>
                <c:ptCount val="226"/>
                <c:pt idx="0">
                  <c:v>10</c:v>
                </c:pt>
                <c:pt idx="1">
                  <c:v>1</c:v>
                </c:pt>
                <c:pt idx="2">
                  <c:v>13</c:v>
                </c:pt>
                <c:pt idx="3">
                  <c:v>7</c:v>
                </c:pt>
                <c:pt idx="4">
                  <c:v>9</c:v>
                </c:pt>
                <c:pt idx="5">
                  <c:v>5</c:v>
                </c:pt>
                <c:pt idx="6">
                  <c:v>1</c:v>
                </c:pt>
                <c:pt idx="7">
                  <c:v>3</c:v>
                </c:pt>
                <c:pt idx="8">
                  <c:v>18</c:v>
                </c:pt>
                <c:pt idx="9">
                  <c:v>2</c:v>
                </c:pt>
                <c:pt idx="10">
                  <c:v>1</c:v>
                </c:pt>
                <c:pt idx="11">
                  <c:v>2</c:v>
                </c:pt>
                <c:pt idx="12">
                  <c:v>14</c:v>
                </c:pt>
                <c:pt idx="13">
                  <c:v>3</c:v>
                </c:pt>
                <c:pt idx="14">
                  <c:v>15</c:v>
                </c:pt>
                <c:pt idx="15">
                  <c:v>9</c:v>
                </c:pt>
                <c:pt idx="16">
                  <c:v>2</c:v>
                </c:pt>
                <c:pt idx="17">
                  <c:v>8</c:v>
                </c:pt>
                <c:pt idx="18">
                  <c:v>1</c:v>
                </c:pt>
                <c:pt idx="19">
                  <c:v>3</c:v>
                </c:pt>
                <c:pt idx="20">
                  <c:v>1</c:v>
                </c:pt>
                <c:pt idx="21">
                  <c:v>8</c:v>
                </c:pt>
                <c:pt idx="22">
                  <c:v>1</c:v>
                </c:pt>
                <c:pt idx="23">
                  <c:v>3</c:v>
                </c:pt>
                <c:pt idx="24">
                  <c:v>2</c:v>
                </c:pt>
                <c:pt idx="25">
                  <c:v>7</c:v>
                </c:pt>
                <c:pt idx="26">
                  <c:v>10</c:v>
                </c:pt>
                <c:pt idx="27">
                  <c:v>2</c:v>
                </c:pt>
                <c:pt idx="28">
                  <c:v>2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3</c:v>
                </c:pt>
                <c:pt idx="33">
                  <c:v>6</c:v>
                </c:pt>
                <c:pt idx="34">
                  <c:v>1</c:v>
                </c:pt>
                <c:pt idx="35">
                  <c:v>5</c:v>
                </c:pt>
                <c:pt idx="36">
                  <c:v>1</c:v>
                </c:pt>
                <c:pt idx="37">
                  <c:v>9</c:v>
                </c:pt>
                <c:pt idx="38">
                  <c:v>3</c:v>
                </c:pt>
                <c:pt idx="39">
                  <c:v>1</c:v>
                </c:pt>
                <c:pt idx="40">
                  <c:v>3</c:v>
                </c:pt>
                <c:pt idx="41">
                  <c:v>2</c:v>
                </c:pt>
                <c:pt idx="42">
                  <c:v>2</c:v>
                </c:pt>
                <c:pt idx="43">
                  <c:v>1</c:v>
                </c:pt>
                <c:pt idx="44">
                  <c:v>2</c:v>
                </c:pt>
                <c:pt idx="45">
                  <c:v>3</c:v>
                </c:pt>
                <c:pt idx="46">
                  <c:v>4</c:v>
                </c:pt>
                <c:pt idx="47">
                  <c:v>2</c:v>
                </c:pt>
                <c:pt idx="48">
                  <c:v>2</c:v>
                </c:pt>
                <c:pt idx="49">
                  <c:v>3</c:v>
                </c:pt>
                <c:pt idx="50">
                  <c:v>9</c:v>
                </c:pt>
                <c:pt idx="51">
                  <c:v>11</c:v>
                </c:pt>
                <c:pt idx="52">
                  <c:v>2</c:v>
                </c:pt>
                <c:pt idx="53">
                  <c:v>3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6</c:v>
                </c:pt>
                <c:pt idx="60">
                  <c:v>2</c:v>
                </c:pt>
                <c:pt idx="61">
                  <c:v>2</c:v>
                </c:pt>
                <c:pt idx="62">
                  <c:v>4</c:v>
                </c:pt>
                <c:pt idx="63">
                  <c:v>1</c:v>
                </c:pt>
                <c:pt idx="64">
                  <c:v>9</c:v>
                </c:pt>
                <c:pt idx="65">
                  <c:v>1</c:v>
                </c:pt>
                <c:pt idx="66">
                  <c:v>3</c:v>
                </c:pt>
                <c:pt idx="67">
                  <c:v>2</c:v>
                </c:pt>
                <c:pt idx="68">
                  <c:v>5</c:v>
                </c:pt>
                <c:pt idx="69">
                  <c:v>13</c:v>
                </c:pt>
                <c:pt idx="70">
                  <c:v>2</c:v>
                </c:pt>
                <c:pt idx="71">
                  <c:v>1</c:v>
                </c:pt>
                <c:pt idx="72">
                  <c:v>2</c:v>
                </c:pt>
                <c:pt idx="73">
                  <c:v>3</c:v>
                </c:pt>
                <c:pt idx="74">
                  <c:v>8</c:v>
                </c:pt>
                <c:pt idx="75">
                  <c:v>3</c:v>
                </c:pt>
                <c:pt idx="76">
                  <c:v>4</c:v>
                </c:pt>
                <c:pt idx="77">
                  <c:v>39</c:v>
                </c:pt>
                <c:pt idx="78">
                  <c:v>43</c:v>
                </c:pt>
                <c:pt idx="79">
                  <c:v>30</c:v>
                </c:pt>
                <c:pt idx="80">
                  <c:v>4</c:v>
                </c:pt>
                <c:pt idx="81">
                  <c:v>5</c:v>
                </c:pt>
                <c:pt idx="82">
                  <c:v>1</c:v>
                </c:pt>
                <c:pt idx="83">
                  <c:v>1</c:v>
                </c:pt>
                <c:pt idx="84">
                  <c:v>29</c:v>
                </c:pt>
                <c:pt idx="85">
                  <c:v>1</c:v>
                </c:pt>
                <c:pt idx="86">
                  <c:v>11</c:v>
                </c:pt>
                <c:pt idx="87">
                  <c:v>1</c:v>
                </c:pt>
                <c:pt idx="88">
                  <c:v>3</c:v>
                </c:pt>
                <c:pt idx="89">
                  <c:v>2</c:v>
                </c:pt>
                <c:pt idx="90">
                  <c:v>1</c:v>
                </c:pt>
                <c:pt idx="91">
                  <c:v>2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3</c:v>
                </c:pt>
                <c:pt idx="96">
                  <c:v>21</c:v>
                </c:pt>
                <c:pt idx="97">
                  <c:v>2</c:v>
                </c:pt>
                <c:pt idx="98">
                  <c:v>10</c:v>
                </c:pt>
                <c:pt idx="99">
                  <c:v>1</c:v>
                </c:pt>
                <c:pt idx="100">
                  <c:v>3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10</c:v>
                </c:pt>
                <c:pt idx="105">
                  <c:v>5</c:v>
                </c:pt>
                <c:pt idx="106">
                  <c:v>1</c:v>
                </c:pt>
                <c:pt idx="107">
                  <c:v>3</c:v>
                </c:pt>
                <c:pt idx="108">
                  <c:v>4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2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2</c:v>
                </c:pt>
                <c:pt idx="119">
                  <c:v>6</c:v>
                </c:pt>
                <c:pt idx="120">
                  <c:v>1</c:v>
                </c:pt>
                <c:pt idx="121">
                  <c:v>9</c:v>
                </c:pt>
                <c:pt idx="122">
                  <c:v>4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3</c:v>
                </c:pt>
                <c:pt idx="127">
                  <c:v>1</c:v>
                </c:pt>
                <c:pt idx="128">
                  <c:v>1</c:v>
                </c:pt>
                <c:pt idx="129">
                  <c:v>2</c:v>
                </c:pt>
                <c:pt idx="130">
                  <c:v>1</c:v>
                </c:pt>
                <c:pt idx="131">
                  <c:v>2</c:v>
                </c:pt>
                <c:pt idx="132">
                  <c:v>1</c:v>
                </c:pt>
                <c:pt idx="133">
                  <c:v>1</c:v>
                </c:pt>
                <c:pt idx="134">
                  <c:v>12</c:v>
                </c:pt>
                <c:pt idx="135">
                  <c:v>21</c:v>
                </c:pt>
                <c:pt idx="136">
                  <c:v>1</c:v>
                </c:pt>
                <c:pt idx="137">
                  <c:v>4</c:v>
                </c:pt>
                <c:pt idx="138">
                  <c:v>35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5</c:v>
                </c:pt>
                <c:pt idx="144">
                  <c:v>5</c:v>
                </c:pt>
                <c:pt idx="145">
                  <c:v>2</c:v>
                </c:pt>
                <c:pt idx="146">
                  <c:v>1</c:v>
                </c:pt>
                <c:pt idx="147">
                  <c:v>3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3</c:v>
                </c:pt>
                <c:pt idx="153">
                  <c:v>4</c:v>
                </c:pt>
                <c:pt idx="154">
                  <c:v>2</c:v>
                </c:pt>
                <c:pt idx="155">
                  <c:v>2</c:v>
                </c:pt>
                <c:pt idx="156">
                  <c:v>2</c:v>
                </c:pt>
                <c:pt idx="157">
                  <c:v>10</c:v>
                </c:pt>
                <c:pt idx="158">
                  <c:v>10</c:v>
                </c:pt>
                <c:pt idx="159">
                  <c:v>7</c:v>
                </c:pt>
                <c:pt idx="160">
                  <c:v>6</c:v>
                </c:pt>
                <c:pt idx="161">
                  <c:v>1</c:v>
                </c:pt>
                <c:pt idx="162">
                  <c:v>1</c:v>
                </c:pt>
                <c:pt idx="163">
                  <c:v>2</c:v>
                </c:pt>
                <c:pt idx="164">
                  <c:v>2</c:v>
                </c:pt>
                <c:pt idx="165">
                  <c:v>1</c:v>
                </c:pt>
                <c:pt idx="166">
                  <c:v>8</c:v>
                </c:pt>
                <c:pt idx="167">
                  <c:v>2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3</c:v>
                </c:pt>
                <c:pt idx="173">
                  <c:v>1</c:v>
                </c:pt>
                <c:pt idx="174">
                  <c:v>1</c:v>
                </c:pt>
                <c:pt idx="175">
                  <c:v>17</c:v>
                </c:pt>
                <c:pt idx="176">
                  <c:v>4</c:v>
                </c:pt>
                <c:pt idx="177">
                  <c:v>3</c:v>
                </c:pt>
                <c:pt idx="178">
                  <c:v>8</c:v>
                </c:pt>
                <c:pt idx="179">
                  <c:v>17</c:v>
                </c:pt>
                <c:pt idx="180">
                  <c:v>8</c:v>
                </c:pt>
                <c:pt idx="181">
                  <c:v>1</c:v>
                </c:pt>
                <c:pt idx="182">
                  <c:v>1</c:v>
                </c:pt>
                <c:pt idx="183">
                  <c:v>28</c:v>
                </c:pt>
                <c:pt idx="184">
                  <c:v>31</c:v>
                </c:pt>
                <c:pt idx="185">
                  <c:v>3</c:v>
                </c:pt>
                <c:pt idx="186">
                  <c:v>4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2</c:v>
                </c:pt>
                <c:pt idx="192">
                  <c:v>1</c:v>
                </c:pt>
                <c:pt idx="193">
                  <c:v>11</c:v>
                </c:pt>
                <c:pt idx="194">
                  <c:v>1</c:v>
                </c:pt>
                <c:pt idx="195">
                  <c:v>12</c:v>
                </c:pt>
                <c:pt idx="196">
                  <c:v>3</c:v>
                </c:pt>
                <c:pt idx="197">
                  <c:v>1</c:v>
                </c:pt>
                <c:pt idx="198">
                  <c:v>2</c:v>
                </c:pt>
                <c:pt idx="199">
                  <c:v>3</c:v>
                </c:pt>
                <c:pt idx="200">
                  <c:v>8</c:v>
                </c:pt>
                <c:pt idx="201">
                  <c:v>1</c:v>
                </c:pt>
                <c:pt idx="202">
                  <c:v>2</c:v>
                </c:pt>
                <c:pt idx="203">
                  <c:v>2</c:v>
                </c:pt>
                <c:pt idx="204">
                  <c:v>2</c:v>
                </c:pt>
                <c:pt idx="205">
                  <c:v>12</c:v>
                </c:pt>
                <c:pt idx="206">
                  <c:v>1</c:v>
                </c:pt>
                <c:pt idx="207">
                  <c:v>3</c:v>
                </c:pt>
                <c:pt idx="208">
                  <c:v>4</c:v>
                </c:pt>
                <c:pt idx="209">
                  <c:v>6</c:v>
                </c:pt>
                <c:pt idx="210">
                  <c:v>1</c:v>
                </c:pt>
                <c:pt idx="211">
                  <c:v>1</c:v>
                </c:pt>
                <c:pt idx="212">
                  <c:v>36</c:v>
                </c:pt>
                <c:pt idx="213">
                  <c:v>10</c:v>
                </c:pt>
                <c:pt idx="214">
                  <c:v>5</c:v>
                </c:pt>
                <c:pt idx="215">
                  <c:v>11</c:v>
                </c:pt>
                <c:pt idx="216">
                  <c:v>3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3</c:v>
                </c:pt>
                <c:pt idx="221">
                  <c:v>1</c:v>
                </c:pt>
                <c:pt idx="222">
                  <c:v>3</c:v>
                </c:pt>
                <c:pt idx="223">
                  <c:v>5</c:v>
                </c:pt>
                <c:pt idx="224">
                  <c:v>1</c:v>
                </c:pt>
                <c:pt idx="22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3E-40F4-9BB8-48E8DAD136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lt1">
                  <a:alpha val="40000"/>
                </a:schemeClr>
              </a:solidFill>
              <a:round/>
            </a:ln>
            <a:effectLst/>
          </c:spPr>
        </c:dropLines>
        <c:axId val="968931376"/>
        <c:axId val="866720048"/>
      </c:areaChart>
      <c:catAx>
        <c:axId val="9689313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/>
                  <a:t>Model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75" cap="flat" cmpd="sng" algn="ctr">
            <a:solidFill>
              <a:schemeClr val="lt1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6720048"/>
        <c:crosses val="autoZero"/>
        <c:auto val="1"/>
        <c:lblAlgn val="ctr"/>
        <c:lblOffset val="100"/>
        <c:noMultiLvlLbl val="0"/>
      </c:catAx>
      <c:valAx>
        <c:axId val="866720048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prstDash val="sysDot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/>
                  <a:t>Number</a:t>
                </a:r>
                <a:r>
                  <a:rPr lang="en-ZA" baseline="0"/>
                  <a:t> of cars sold</a:t>
                </a:r>
                <a:endParaRPr lang="en-ZA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893137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lt1">
          <a:lumMod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[CAR SALES PIVOTS.csv]Sheet3!PivotTable6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circle"/>
          <c:size val="6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Sheet3!$B$3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067-47CD-BA42-DB888BAEABF2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067-47CD-BA42-DB888BAEABF2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6067-47CD-BA42-DB888BAEABF2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Sheet3!$A$4:$A$7</c:f>
              <c:strCache>
                <c:ptCount val="3"/>
                <c:pt idx="0">
                  <c:v>automatic</c:v>
                </c:pt>
                <c:pt idx="1">
                  <c:v>manual</c:v>
                </c:pt>
                <c:pt idx="2">
                  <c:v>null</c:v>
                </c:pt>
              </c:strCache>
            </c:strRef>
          </c:cat>
          <c:val>
            <c:numRef>
              <c:f>Sheet3!$B$4:$B$7</c:f>
              <c:numCache>
                <c:formatCode>General</c:formatCode>
                <c:ptCount val="3"/>
                <c:pt idx="0">
                  <c:v>866</c:v>
                </c:pt>
                <c:pt idx="1">
                  <c:v>61</c:v>
                </c:pt>
                <c:pt idx="2">
                  <c:v>141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067-47CD-BA42-DB888BAEABF2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[CAR SALES PIVOTS.csv]Sheet4!PivotTable8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lt1">
                  <a:lumMod val="8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  <a:round/>
            </a:ln>
            <a:effectLst/>
          </c:spPr>
        </c:marker>
      </c:pivotFmt>
      <c:pivotFmt>
        <c:idx val="1"/>
        <c:spPr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marker>
          <c:symbol val="none"/>
        </c:marker>
      </c:pivotFmt>
      <c:pivotFmt>
        <c:idx val="2"/>
        <c:spPr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6.6287401574803145E-2"/>
          <c:y val="0.10601851851851851"/>
          <c:w val="0.71046347331583548"/>
          <c:h val="0.49877734033245846"/>
        </c:manualLayout>
      </c:layout>
      <c:areaChart>
        <c:grouping val="standard"/>
        <c:varyColors val="0"/>
        <c:ser>
          <c:idx val="0"/>
          <c:order val="0"/>
          <c:tx>
            <c:strRef>
              <c:f>Sheet4!$B$3</c:f>
              <c:strCache>
                <c:ptCount val="1"/>
                <c:pt idx="0">
                  <c:v>Total</c:v>
                </c:pt>
              </c:strCache>
            </c:strRef>
          </c:tx>
          <c:spPr>
            <a:gradFill>
              <a:gsLst>
                <a:gs pos="100000">
                  <a:schemeClr val="accent2"/>
                </a:gs>
                <a:gs pos="0">
                  <a:schemeClr val="accent2">
                    <a:lumMod val="75000"/>
                  </a:schemeClr>
                </a:gs>
              </a:gsLst>
              <a:lin ang="0" scaled="1"/>
            </a:gradFill>
            <a:ln>
              <a:noFill/>
            </a:ln>
            <a:effectLst>
              <a:innerShdw dist="12700" dir="16200000">
                <a:schemeClr val="lt1">
                  <a:alpha val="75000"/>
                </a:schemeClr>
              </a:innerShdw>
            </a:effectLst>
          </c:spPr>
          <c:cat>
            <c:strRef>
              <c:f>Sheet4!$A$4:$A$22</c:f>
              <c:strCache>
                <c:ptCount val="18"/>
                <c:pt idx="0">
                  <c:v>â€”</c:v>
                </c:pt>
                <c:pt idx="1">
                  <c:v>beige</c:v>
                </c:pt>
                <c:pt idx="2">
                  <c:v>black</c:v>
                </c:pt>
                <c:pt idx="3">
                  <c:v>blue</c:v>
                </c:pt>
                <c:pt idx="4">
                  <c:v>brown</c:v>
                </c:pt>
                <c:pt idx="5">
                  <c:v>burgundy</c:v>
                </c:pt>
                <c:pt idx="6">
                  <c:v>charcoal</c:v>
                </c:pt>
                <c:pt idx="7">
                  <c:v>gold</c:v>
                </c:pt>
                <c:pt idx="8">
                  <c:v>gray</c:v>
                </c:pt>
                <c:pt idx="9">
                  <c:v>green</c:v>
                </c:pt>
                <c:pt idx="10">
                  <c:v>null</c:v>
                </c:pt>
                <c:pt idx="11">
                  <c:v>off-white</c:v>
                </c:pt>
                <c:pt idx="12">
                  <c:v>orange</c:v>
                </c:pt>
                <c:pt idx="13">
                  <c:v>purple</c:v>
                </c:pt>
                <c:pt idx="14">
                  <c:v>red</c:v>
                </c:pt>
                <c:pt idx="15">
                  <c:v>silver</c:v>
                </c:pt>
                <c:pt idx="16">
                  <c:v>white</c:v>
                </c:pt>
                <c:pt idx="17">
                  <c:v>yellow</c:v>
                </c:pt>
              </c:strCache>
            </c:strRef>
          </c:cat>
          <c:val>
            <c:numRef>
              <c:f>Sheet4!$B$4:$B$22</c:f>
              <c:numCache>
                <c:formatCode>General</c:formatCode>
                <c:ptCount val="18"/>
                <c:pt idx="0">
                  <c:v>60</c:v>
                </c:pt>
                <c:pt idx="1">
                  <c:v>9</c:v>
                </c:pt>
                <c:pt idx="2">
                  <c:v>240</c:v>
                </c:pt>
                <c:pt idx="3">
                  <c:v>51</c:v>
                </c:pt>
                <c:pt idx="4">
                  <c:v>10</c:v>
                </c:pt>
                <c:pt idx="5">
                  <c:v>16</c:v>
                </c:pt>
                <c:pt idx="6">
                  <c:v>1</c:v>
                </c:pt>
                <c:pt idx="7">
                  <c:v>11</c:v>
                </c:pt>
                <c:pt idx="8">
                  <c:v>142</c:v>
                </c:pt>
                <c:pt idx="9">
                  <c:v>17</c:v>
                </c:pt>
                <c:pt idx="10">
                  <c:v>19</c:v>
                </c:pt>
                <c:pt idx="11">
                  <c:v>4</c:v>
                </c:pt>
                <c:pt idx="12">
                  <c:v>12</c:v>
                </c:pt>
                <c:pt idx="13">
                  <c:v>3</c:v>
                </c:pt>
                <c:pt idx="14">
                  <c:v>78</c:v>
                </c:pt>
                <c:pt idx="15">
                  <c:v>93</c:v>
                </c:pt>
                <c:pt idx="16">
                  <c:v>291</c:v>
                </c:pt>
                <c:pt idx="17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0E-453F-9BB9-F9688964CE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lt1">
                  <a:alpha val="40000"/>
                </a:schemeClr>
              </a:solidFill>
              <a:round/>
            </a:ln>
            <a:effectLst/>
          </c:spPr>
        </c:dropLines>
        <c:axId val="1027341280"/>
        <c:axId val="980451632"/>
      </c:areaChart>
      <c:catAx>
        <c:axId val="10273412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/>
                  <a:t>Color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75" cap="flat" cmpd="sng" algn="ctr">
            <a:solidFill>
              <a:schemeClr val="lt1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0451632"/>
        <c:crosses val="autoZero"/>
        <c:auto val="1"/>
        <c:lblAlgn val="ctr"/>
        <c:lblOffset val="100"/>
        <c:noMultiLvlLbl val="0"/>
      </c:catAx>
      <c:valAx>
        <c:axId val="980451632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prstDash val="sysDot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/>
                  <a:t>No</a:t>
                </a:r>
                <a:r>
                  <a:rPr lang="en-ZA" baseline="0"/>
                  <a:t> of cars sold</a:t>
                </a:r>
                <a:endParaRPr lang="en-ZA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734128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lt1">
          <a:lumMod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[CAR SALES PIVOTS.csv]Sheet5!PivotTable10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</c:marker>
      </c:pivotFmt>
      <c:pivotFmt>
        <c:idx val="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</c:marker>
      </c:pivotFmt>
      <c:pivotFmt>
        <c:idx val="2"/>
        <c:spPr>
          <a:gradFill rotWithShape="1">
            <a:gsLst>
              <a:gs pos="0">
                <a:schemeClr val="accent2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2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</c:marker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Sheet5!$B$3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flat" dir="t">
                  <a:rot lat="0" lon="0" rev="3600000"/>
                </a:lightRig>
              </a:scene3d>
              <a:sp3d contourW="12700" prstMaterial="flat">
                <a:bevelT w="38100" h="44450" prst="angle"/>
                <a:contourClr>
                  <a:scrgbClr r="0" g="0" b="0">
                    <a:shade val="35000"/>
                    <a:satMod val="160000"/>
                  </a:scrgbClr>
                </a:contourClr>
              </a:sp3d>
            </c:spPr>
          </c:marker>
          <c:cat>
            <c:strRef>
              <c:f>Sheet5!$A$4:$A$19</c:f>
              <c:strCache>
                <c:ptCount val="15"/>
                <c:pt idx="0">
                  <c:v>â€”</c:v>
                </c:pt>
                <c:pt idx="1">
                  <c:v>beige</c:v>
                </c:pt>
                <c:pt idx="2">
                  <c:v>black</c:v>
                </c:pt>
                <c:pt idx="3">
                  <c:v>blue</c:v>
                </c:pt>
                <c:pt idx="4">
                  <c:v>brown</c:v>
                </c:pt>
                <c:pt idx="5">
                  <c:v>gold</c:v>
                </c:pt>
                <c:pt idx="6">
                  <c:v>gray</c:v>
                </c:pt>
                <c:pt idx="7">
                  <c:v>null</c:v>
                </c:pt>
                <c:pt idx="8">
                  <c:v>off-white</c:v>
                </c:pt>
                <c:pt idx="9">
                  <c:v>orange</c:v>
                </c:pt>
                <c:pt idx="10">
                  <c:v>purple</c:v>
                </c:pt>
                <c:pt idx="11">
                  <c:v>red</c:v>
                </c:pt>
                <c:pt idx="12">
                  <c:v>silver</c:v>
                </c:pt>
                <c:pt idx="13">
                  <c:v>tan</c:v>
                </c:pt>
                <c:pt idx="14">
                  <c:v>white</c:v>
                </c:pt>
              </c:strCache>
            </c:strRef>
          </c:cat>
          <c:val>
            <c:numRef>
              <c:f>Sheet5!$B$4:$B$19</c:f>
              <c:numCache>
                <c:formatCode>General</c:formatCode>
                <c:ptCount val="15"/>
                <c:pt idx="0">
                  <c:v>41</c:v>
                </c:pt>
                <c:pt idx="1">
                  <c:v>116</c:v>
                </c:pt>
                <c:pt idx="2">
                  <c:v>479</c:v>
                </c:pt>
                <c:pt idx="3">
                  <c:v>1</c:v>
                </c:pt>
                <c:pt idx="4">
                  <c:v>37</c:v>
                </c:pt>
                <c:pt idx="5">
                  <c:v>1</c:v>
                </c:pt>
                <c:pt idx="6">
                  <c:v>285</c:v>
                </c:pt>
                <c:pt idx="7">
                  <c:v>19</c:v>
                </c:pt>
                <c:pt idx="8">
                  <c:v>4</c:v>
                </c:pt>
                <c:pt idx="9">
                  <c:v>2</c:v>
                </c:pt>
                <c:pt idx="10">
                  <c:v>3</c:v>
                </c:pt>
                <c:pt idx="11">
                  <c:v>17</c:v>
                </c:pt>
                <c:pt idx="12">
                  <c:v>1</c:v>
                </c:pt>
                <c:pt idx="13">
                  <c:v>59</c:v>
                </c:pt>
                <c:pt idx="14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35-4D3C-A2CF-0E80FD8885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81319936"/>
        <c:axId val="980445392"/>
      </c:lineChart>
      <c:catAx>
        <c:axId val="981319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0445392"/>
        <c:crosses val="autoZero"/>
        <c:auto val="1"/>
        <c:lblAlgn val="ctr"/>
        <c:lblOffset val="100"/>
        <c:noMultiLvlLbl val="0"/>
      </c:catAx>
      <c:valAx>
        <c:axId val="980445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319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[CAR SALES PIVOTS.csv]Sheet6!PivotTable12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</c:marker>
      </c:pivotFmt>
      <c:pivotFmt>
        <c:idx val="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6.6287401574803145E-2"/>
          <c:y val="0.14305555555555555"/>
          <c:w val="0.8960115923009625"/>
          <c:h val="0.504156095071449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Sheet6!$B$3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Sheet6!$A$4:$A$24</c:f>
              <c:strCache>
                <c:ptCount val="20"/>
                <c:pt idx="0">
                  <c:v>1982</c:v>
                </c:pt>
                <c:pt idx="1">
                  <c:v>1988</c:v>
                </c:pt>
                <c:pt idx="2">
                  <c:v>1996</c:v>
                </c:pt>
                <c:pt idx="3">
                  <c:v>1999</c:v>
                </c:pt>
                <c:pt idx="4">
                  <c:v>2000</c:v>
                </c:pt>
                <c:pt idx="5">
                  <c:v>2001</c:v>
                </c:pt>
                <c:pt idx="6">
                  <c:v>2002</c:v>
                </c:pt>
                <c:pt idx="7">
                  <c:v>2003</c:v>
                </c:pt>
                <c:pt idx="8">
                  <c:v>2004</c:v>
                </c:pt>
                <c:pt idx="9">
                  <c:v>2005</c:v>
                </c:pt>
                <c:pt idx="10">
                  <c:v>2006</c:v>
                </c:pt>
                <c:pt idx="11">
                  <c:v>2007</c:v>
                </c:pt>
                <c:pt idx="12">
                  <c:v>2008</c:v>
                </c:pt>
                <c:pt idx="13">
                  <c:v>2009</c:v>
                </c:pt>
                <c:pt idx="14">
                  <c:v>2010</c:v>
                </c:pt>
                <c:pt idx="15">
                  <c:v>2011</c:v>
                </c:pt>
                <c:pt idx="16">
                  <c:v>2012</c:v>
                </c:pt>
                <c:pt idx="17">
                  <c:v>2013</c:v>
                </c:pt>
                <c:pt idx="18">
                  <c:v>2014</c:v>
                </c:pt>
                <c:pt idx="19">
                  <c:v>2015</c:v>
                </c:pt>
              </c:strCache>
            </c:strRef>
          </c:cat>
          <c:val>
            <c:numRef>
              <c:f>Sheet6!$B$4:$B$24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3</c:v>
                </c:pt>
                <c:pt idx="6">
                  <c:v>2</c:v>
                </c:pt>
                <c:pt idx="7">
                  <c:v>12</c:v>
                </c:pt>
                <c:pt idx="8">
                  <c:v>25</c:v>
                </c:pt>
                <c:pt idx="9">
                  <c:v>27</c:v>
                </c:pt>
                <c:pt idx="10">
                  <c:v>49</c:v>
                </c:pt>
                <c:pt idx="11">
                  <c:v>44</c:v>
                </c:pt>
                <c:pt idx="12">
                  <c:v>62</c:v>
                </c:pt>
                <c:pt idx="13">
                  <c:v>32</c:v>
                </c:pt>
                <c:pt idx="14">
                  <c:v>49</c:v>
                </c:pt>
                <c:pt idx="15">
                  <c:v>70</c:v>
                </c:pt>
                <c:pt idx="16">
                  <c:v>116</c:v>
                </c:pt>
                <c:pt idx="17">
                  <c:v>204</c:v>
                </c:pt>
                <c:pt idx="18">
                  <c:v>270</c:v>
                </c:pt>
                <c:pt idx="19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19-48CA-90CD-75A6F76388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037287456"/>
        <c:axId val="1028967440"/>
      </c:barChart>
      <c:catAx>
        <c:axId val="1037287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8967440"/>
        <c:crosses val="autoZero"/>
        <c:auto val="1"/>
        <c:lblAlgn val="ctr"/>
        <c:lblOffset val="100"/>
        <c:noMultiLvlLbl val="0"/>
      </c:catAx>
      <c:valAx>
        <c:axId val="1028967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7287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[CAR SALES PIVOTS.csv]CAR SALES PIVOTS!PivotTable16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</c:marker>
      </c:pivotFmt>
      <c:pivotFmt>
        <c:idx val="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</c:marker>
      </c:pivotFmt>
      <c:pivotFmt>
        <c:idx val="2"/>
        <c:spPr>
          <a:gradFill rotWithShape="1">
            <a:gsLst>
              <a:gs pos="0">
                <a:schemeClr val="accent2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2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</c:marker>
      </c:pivotFmt>
    </c:pivotFmts>
    <c:plotArea>
      <c:layout>
        <c:manualLayout>
          <c:layoutTarget val="inner"/>
          <c:xMode val="edge"/>
          <c:yMode val="edge"/>
          <c:x val="0.21003827646544182"/>
          <c:y val="0.18472222222222223"/>
          <c:w val="0.63212817147856515"/>
          <c:h val="0.51948199183435406"/>
        </c:manualLayout>
      </c:layout>
      <c:lineChart>
        <c:grouping val="standard"/>
        <c:varyColors val="0"/>
        <c:ser>
          <c:idx val="0"/>
          <c:order val="0"/>
          <c:tx>
            <c:strRef>
              <c:f>'CAR SALES PIVOTS'!$B$3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flat" dir="t">
                  <a:rot lat="0" lon="0" rev="3600000"/>
                </a:lightRig>
              </a:scene3d>
              <a:sp3d contourW="12700" prstMaterial="flat">
                <a:bevelT w="38100" h="44450" prst="angle"/>
                <a:contourClr>
                  <a:scrgbClr r="0" g="0" b="0">
                    <a:shade val="35000"/>
                    <a:satMod val="160000"/>
                  </a:scrgbClr>
                </a:contourClr>
              </a:sp3d>
            </c:spPr>
          </c:marker>
          <c:cat>
            <c:strRef>
              <c:f>'CAR SALES PIVOTS'!$A$4:$A$47</c:f>
              <c:strCache>
                <c:ptCount val="43"/>
                <c:pt idx="0">
                  <c:v>airstream</c:v>
                </c:pt>
                <c:pt idx="1">
                  <c:v>Aston Martin</c:v>
                </c:pt>
                <c:pt idx="2">
                  <c:v>Audi</c:v>
                </c:pt>
                <c:pt idx="3">
                  <c:v>Bentley</c:v>
                </c:pt>
                <c:pt idx="4">
                  <c:v>BMW</c:v>
                </c:pt>
                <c:pt idx="5">
                  <c:v>Buick</c:v>
                </c:pt>
                <c:pt idx="6">
                  <c:v>Cadillac</c:v>
                </c:pt>
                <c:pt idx="7">
                  <c:v>Chevrolet</c:v>
                </c:pt>
                <c:pt idx="8">
                  <c:v>Chrysler</c:v>
                </c:pt>
                <c:pt idx="9">
                  <c:v>Dodge</c:v>
                </c:pt>
                <c:pt idx="10">
                  <c:v>Ferrari</c:v>
                </c:pt>
                <c:pt idx="11">
                  <c:v>Ford</c:v>
                </c:pt>
                <c:pt idx="12">
                  <c:v>GMC</c:v>
                </c:pt>
                <c:pt idx="13">
                  <c:v>Honda</c:v>
                </c:pt>
                <c:pt idx="14">
                  <c:v>HUMMER</c:v>
                </c:pt>
                <c:pt idx="15">
                  <c:v>Hyundai</c:v>
                </c:pt>
                <c:pt idx="16">
                  <c:v>Infiniti</c:v>
                </c:pt>
                <c:pt idx="17">
                  <c:v>Jaguar</c:v>
                </c:pt>
                <c:pt idx="18">
                  <c:v>Jeep</c:v>
                </c:pt>
                <c:pt idx="19">
                  <c:v>Kia</c:v>
                </c:pt>
                <c:pt idx="20">
                  <c:v>Lamborghini</c:v>
                </c:pt>
                <c:pt idx="21">
                  <c:v>Land Rover</c:v>
                </c:pt>
                <c:pt idx="22">
                  <c:v>Lexus</c:v>
                </c:pt>
                <c:pt idx="23">
                  <c:v>Lincoln</c:v>
                </c:pt>
                <c:pt idx="24">
                  <c:v>Maserati</c:v>
                </c:pt>
                <c:pt idx="25">
                  <c:v>Mazda</c:v>
                </c:pt>
                <c:pt idx="26">
                  <c:v>Mercedes-Benz</c:v>
                </c:pt>
                <c:pt idx="27">
                  <c:v>Mercury</c:v>
                </c:pt>
                <c:pt idx="28">
                  <c:v>MINI</c:v>
                </c:pt>
                <c:pt idx="29">
                  <c:v>Mitsubishi</c:v>
                </c:pt>
                <c:pt idx="30">
                  <c:v>Nissan</c:v>
                </c:pt>
                <c:pt idx="31">
                  <c:v>null</c:v>
                </c:pt>
                <c:pt idx="32">
                  <c:v>Pontiac</c:v>
                </c:pt>
                <c:pt idx="33">
                  <c:v>Porsche</c:v>
                </c:pt>
                <c:pt idx="34">
                  <c:v>Ram</c:v>
                </c:pt>
                <c:pt idx="35">
                  <c:v>Rolls-Royce</c:v>
                </c:pt>
                <c:pt idx="36">
                  <c:v>Saab</c:v>
                </c:pt>
                <c:pt idx="37">
                  <c:v>Scion</c:v>
                </c:pt>
                <c:pt idx="38">
                  <c:v>Subaru</c:v>
                </c:pt>
                <c:pt idx="39">
                  <c:v>Tesla</c:v>
                </c:pt>
                <c:pt idx="40">
                  <c:v>Toyota</c:v>
                </c:pt>
                <c:pt idx="41">
                  <c:v>Volkswagen</c:v>
                </c:pt>
                <c:pt idx="42">
                  <c:v>Volvo</c:v>
                </c:pt>
              </c:strCache>
            </c:strRef>
          </c:cat>
          <c:val>
            <c:numRef>
              <c:f>'CAR SALES PIVOTS'!$B$4:$B$47</c:f>
              <c:numCache>
                <c:formatCode>"R"#\ ##0.00</c:formatCode>
                <c:ptCount val="43"/>
                <c:pt idx="0">
                  <c:v>71000</c:v>
                </c:pt>
                <c:pt idx="1">
                  <c:v>208000</c:v>
                </c:pt>
                <c:pt idx="2">
                  <c:v>703600</c:v>
                </c:pt>
                <c:pt idx="3">
                  <c:v>728500</c:v>
                </c:pt>
                <c:pt idx="4">
                  <c:v>7245650</c:v>
                </c:pt>
                <c:pt idx="5">
                  <c:v>72400</c:v>
                </c:pt>
                <c:pt idx="6">
                  <c:v>468200</c:v>
                </c:pt>
                <c:pt idx="7">
                  <c:v>4310825</c:v>
                </c:pt>
                <c:pt idx="8">
                  <c:v>469800</c:v>
                </c:pt>
                <c:pt idx="9">
                  <c:v>1023850</c:v>
                </c:pt>
                <c:pt idx="10">
                  <c:v>149000</c:v>
                </c:pt>
                <c:pt idx="11">
                  <c:v>7010351</c:v>
                </c:pt>
                <c:pt idx="12">
                  <c:v>1154250</c:v>
                </c:pt>
                <c:pt idx="13">
                  <c:v>185050</c:v>
                </c:pt>
                <c:pt idx="14">
                  <c:v>488300</c:v>
                </c:pt>
                <c:pt idx="15">
                  <c:v>300700</c:v>
                </c:pt>
                <c:pt idx="16">
                  <c:v>839850</c:v>
                </c:pt>
                <c:pt idx="17">
                  <c:v>37000</c:v>
                </c:pt>
                <c:pt idx="18">
                  <c:v>1573300</c:v>
                </c:pt>
                <c:pt idx="19">
                  <c:v>16300</c:v>
                </c:pt>
                <c:pt idx="20">
                  <c:v>116000</c:v>
                </c:pt>
                <c:pt idx="21">
                  <c:v>1096100</c:v>
                </c:pt>
                <c:pt idx="22">
                  <c:v>308650</c:v>
                </c:pt>
                <c:pt idx="23">
                  <c:v>316500</c:v>
                </c:pt>
                <c:pt idx="24">
                  <c:v>356750</c:v>
                </c:pt>
                <c:pt idx="25">
                  <c:v>68700</c:v>
                </c:pt>
                <c:pt idx="26">
                  <c:v>3334200</c:v>
                </c:pt>
                <c:pt idx="27">
                  <c:v>13800</c:v>
                </c:pt>
                <c:pt idx="28">
                  <c:v>115300</c:v>
                </c:pt>
                <c:pt idx="29">
                  <c:v>29000</c:v>
                </c:pt>
                <c:pt idx="30">
                  <c:v>1734300</c:v>
                </c:pt>
                <c:pt idx="31">
                  <c:v>632900</c:v>
                </c:pt>
                <c:pt idx="32">
                  <c:v>20300</c:v>
                </c:pt>
                <c:pt idx="33">
                  <c:v>1934600</c:v>
                </c:pt>
                <c:pt idx="34">
                  <c:v>734550</c:v>
                </c:pt>
                <c:pt idx="35">
                  <c:v>478500</c:v>
                </c:pt>
                <c:pt idx="36">
                  <c:v>15750</c:v>
                </c:pt>
                <c:pt idx="37">
                  <c:v>22600</c:v>
                </c:pt>
                <c:pt idx="38">
                  <c:v>36500</c:v>
                </c:pt>
                <c:pt idx="39">
                  <c:v>64500</c:v>
                </c:pt>
                <c:pt idx="40">
                  <c:v>1400850</c:v>
                </c:pt>
                <c:pt idx="41">
                  <c:v>220200</c:v>
                </c:pt>
                <c:pt idx="42">
                  <c:v>60500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A63-4DAF-B37C-9F047B2572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84157968"/>
        <c:axId val="1042136672"/>
      </c:lineChart>
      <c:catAx>
        <c:axId val="984157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2136672"/>
        <c:crosses val="autoZero"/>
        <c:auto val="1"/>
        <c:lblAlgn val="ctr"/>
        <c:lblOffset val="100"/>
        <c:noMultiLvlLbl val="0"/>
      </c:catAx>
      <c:valAx>
        <c:axId val="1042136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&quot;R&quot;#\ 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4157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[CAR SALES PIVOTS.csv]Sheet9!PivotTable18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lt1">
                  <a:lumMod val="8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  <a:round/>
            </a:ln>
            <a:effectLst/>
          </c:spPr>
        </c:marker>
      </c:pivotFmt>
      <c:pivotFmt>
        <c:idx val="1"/>
        <c:spPr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marker>
          <c:symbol val="none"/>
        </c:marker>
      </c:pivotFmt>
      <c:pivotFmt>
        <c:idx val="2"/>
        <c:spPr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marker>
          <c:symbol val="none"/>
        </c:marker>
      </c:pivotFmt>
    </c:pivotFmts>
    <c:plotArea>
      <c:layout/>
      <c:areaChart>
        <c:grouping val="standard"/>
        <c:varyColors val="0"/>
        <c:ser>
          <c:idx val="0"/>
          <c:order val="0"/>
          <c:tx>
            <c:strRef>
              <c:f>Sheet9!$B$3</c:f>
              <c:strCache>
                <c:ptCount val="1"/>
                <c:pt idx="0">
                  <c:v>Total</c:v>
                </c:pt>
              </c:strCache>
            </c:strRef>
          </c:tx>
          <c:spPr>
            <a:gradFill>
              <a:gsLst>
                <a:gs pos="100000">
                  <a:schemeClr val="accent2"/>
                </a:gs>
                <a:gs pos="0">
                  <a:schemeClr val="accent2">
                    <a:lumMod val="75000"/>
                  </a:schemeClr>
                </a:gs>
              </a:gsLst>
              <a:lin ang="0" scaled="1"/>
            </a:gradFill>
            <a:ln>
              <a:noFill/>
            </a:ln>
            <a:effectLst>
              <a:innerShdw dist="12700" dir="16200000">
                <a:schemeClr val="lt1">
                  <a:alpha val="75000"/>
                </a:schemeClr>
              </a:innerShdw>
            </a:effectLst>
          </c:spPr>
          <c:cat>
            <c:strRef>
              <c:f>Sheet9!$A$4:$A$230</c:f>
              <c:strCache>
                <c:ptCount val="226"/>
                <c:pt idx="0">
                  <c:v>200</c:v>
                </c:pt>
                <c:pt idx="1">
                  <c:v>300</c:v>
                </c:pt>
                <c:pt idx="2">
                  <c:v>911</c:v>
                </c:pt>
                <c:pt idx="3">
                  <c:v>1500</c:v>
                </c:pt>
                <c:pt idx="4">
                  <c:v>2500</c:v>
                </c:pt>
                <c:pt idx="5">
                  <c:v>3500</c:v>
                </c:pt>
                <c:pt idx="6">
                  <c:v>1 Series</c:v>
                </c:pt>
                <c:pt idx="7">
                  <c:v>2 Series</c:v>
                </c:pt>
                <c:pt idx="8">
                  <c:v>3 Series</c:v>
                </c:pt>
                <c:pt idx="9">
                  <c:v>3 Series Gran Turismo</c:v>
                </c:pt>
                <c:pt idx="10">
                  <c:v>350Z</c:v>
                </c:pt>
                <c:pt idx="11">
                  <c:v>370Z</c:v>
                </c:pt>
                <c:pt idx="12">
                  <c:v>4 Series</c:v>
                </c:pt>
                <c:pt idx="13">
                  <c:v>4Runner</c:v>
                </c:pt>
                <c:pt idx="14">
                  <c:v>5 Series</c:v>
                </c:pt>
                <c:pt idx="15">
                  <c:v>6 Series</c:v>
                </c:pt>
                <c:pt idx="16">
                  <c:v>6 Series Gran Coupe</c:v>
                </c:pt>
                <c:pt idx="17">
                  <c:v>7 Series</c:v>
                </c:pt>
                <c:pt idx="18">
                  <c:v>750li</c:v>
                </c:pt>
                <c:pt idx="19">
                  <c:v>A4</c:v>
                </c:pt>
                <c:pt idx="20">
                  <c:v>A7</c:v>
                </c:pt>
                <c:pt idx="21">
                  <c:v>A8</c:v>
                </c:pt>
                <c:pt idx="22">
                  <c:v>Accent</c:v>
                </c:pt>
                <c:pt idx="23">
                  <c:v>Accord</c:v>
                </c:pt>
                <c:pt idx="24">
                  <c:v>ActiveHybrid 7</c:v>
                </c:pt>
                <c:pt idx="25">
                  <c:v>Altima</c:v>
                </c:pt>
                <c:pt idx="26">
                  <c:v>Armada</c:v>
                </c:pt>
                <c:pt idx="27">
                  <c:v>Avalanche</c:v>
                </c:pt>
                <c:pt idx="28">
                  <c:v>Avenger</c:v>
                </c:pt>
                <c:pt idx="29">
                  <c:v>Beetle</c:v>
                </c:pt>
                <c:pt idx="30">
                  <c:v>Black Diamond Avalanche</c:v>
                </c:pt>
                <c:pt idx="31">
                  <c:v>California</c:v>
                </c:pt>
                <c:pt idx="32">
                  <c:v>Camaro</c:v>
                </c:pt>
                <c:pt idx="33">
                  <c:v>Camry</c:v>
                </c:pt>
                <c:pt idx="34">
                  <c:v>Captiva Sport</c:v>
                </c:pt>
                <c:pt idx="35">
                  <c:v>Cayenne</c:v>
                </c:pt>
                <c:pt idx="36">
                  <c:v>Cayman</c:v>
                </c:pt>
                <c:pt idx="37">
                  <c:v>C-Class</c:v>
                </c:pt>
                <c:pt idx="38">
                  <c:v>Charger</c:v>
                </c:pt>
                <c:pt idx="39">
                  <c:v>Civic</c:v>
                </c:pt>
                <c:pt idx="40">
                  <c:v>CL-Class</c:v>
                </c:pt>
                <c:pt idx="41">
                  <c:v>CLS-Class</c:v>
                </c:pt>
                <c:pt idx="42">
                  <c:v>C-Max Hybrid</c:v>
                </c:pt>
                <c:pt idx="43">
                  <c:v>Cobalt</c:v>
                </c:pt>
                <c:pt idx="44">
                  <c:v>Compass</c:v>
                </c:pt>
                <c:pt idx="45">
                  <c:v>Continental Flying Spur</c:v>
                </c:pt>
                <c:pt idx="46">
                  <c:v>Continental GT</c:v>
                </c:pt>
                <c:pt idx="47">
                  <c:v>Continental GTC</c:v>
                </c:pt>
                <c:pt idx="48">
                  <c:v>Cooper</c:v>
                </c:pt>
                <c:pt idx="49">
                  <c:v>Cooper Countryman</c:v>
                </c:pt>
                <c:pt idx="50">
                  <c:v>Corolla</c:v>
                </c:pt>
                <c:pt idx="51">
                  <c:v>Corvette</c:v>
                </c:pt>
                <c:pt idx="52">
                  <c:v>Corvette Stingray</c:v>
                </c:pt>
                <c:pt idx="53">
                  <c:v>Cruze</c:v>
                </c:pt>
                <c:pt idx="54">
                  <c:v>CTS</c:v>
                </c:pt>
                <c:pt idx="55">
                  <c:v>CTS Coupe</c:v>
                </c:pt>
                <c:pt idx="56">
                  <c:v>CTS-V</c:v>
                </c:pt>
                <c:pt idx="57">
                  <c:v>CTS-V Wagon</c:v>
                </c:pt>
                <c:pt idx="58">
                  <c:v>DB9</c:v>
                </c:pt>
                <c:pt idx="59">
                  <c:v>E-Class</c:v>
                </c:pt>
                <c:pt idx="60">
                  <c:v>Econoline Cargo</c:v>
                </c:pt>
                <c:pt idx="61">
                  <c:v>Econoline Wagon</c:v>
                </c:pt>
                <c:pt idx="62">
                  <c:v>Edge</c:v>
                </c:pt>
                <c:pt idx="63">
                  <c:v>Eldorado</c:v>
                </c:pt>
                <c:pt idx="64">
                  <c:v>Equinox</c:v>
                </c:pt>
                <c:pt idx="65">
                  <c:v>Equus</c:v>
                </c:pt>
                <c:pt idx="66">
                  <c:v>ES 350</c:v>
                </c:pt>
                <c:pt idx="67">
                  <c:v>Escalade</c:v>
                </c:pt>
                <c:pt idx="68">
                  <c:v>Escalade ESV</c:v>
                </c:pt>
                <c:pt idx="69">
                  <c:v>Escape</c:v>
                </c:pt>
                <c:pt idx="70">
                  <c:v>E-Series Van</c:v>
                </c:pt>
                <c:pt idx="71">
                  <c:v>E-Series Wagon</c:v>
                </c:pt>
                <c:pt idx="72">
                  <c:v>Excursion</c:v>
                </c:pt>
                <c:pt idx="73">
                  <c:v>Expedition</c:v>
                </c:pt>
                <c:pt idx="74">
                  <c:v>Explorer</c:v>
                </c:pt>
                <c:pt idx="75">
                  <c:v>Express</c:v>
                </c:pt>
                <c:pt idx="76">
                  <c:v>Express Cargo</c:v>
                </c:pt>
                <c:pt idx="77">
                  <c:v>F-150</c:v>
                </c:pt>
                <c:pt idx="78">
                  <c:v>F-250 Super Duty</c:v>
                </c:pt>
                <c:pt idx="79">
                  <c:v>F-350 Super Duty</c:v>
                </c:pt>
                <c:pt idx="80">
                  <c:v>F-450 Super Duty</c:v>
                </c:pt>
                <c:pt idx="81">
                  <c:v>Fiesta</c:v>
                </c:pt>
                <c:pt idx="82">
                  <c:v>Firebird</c:v>
                </c:pt>
                <c:pt idx="83">
                  <c:v>Flex</c:v>
                </c:pt>
                <c:pt idx="84">
                  <c:v>Focus</c:v>
                </c:pt>
                <c:pt idx="85">
                  <c:v>FR-S</c:v>
                </c:pt>
                <c:pt idx="86">
                  <c:v>Fusion</c:v>
                </c:pt>
                <c:pt idx="87">
                  <c:v>Fusion Energi</c:v>
                </c:pt>
                <c:pt idx="88">
                  <c:v>Fusion Hybrid</c:v>
                </c:pt>
                <c:pt idx="89">
                  <c:v>FX</c:v>
                </c:pt>
                <c:pt idx="90">
                  <c:v>G Sedan</c:v>
                </c:pt>
                <c:pt idx="91">
                  <c:v>g3500</c:v>
                </c:pt>
                <c:pt idx="92">
                  <c:v>Gallardo</c:v>
                </c:pt>
                <c:pt idx="93">
                  <c:v>G-Class</c:v>
                </c:pt>
                <c:pt idx="94">
                  <c:v>Genesis Coupe</c:v>
                </c:pt>
                <c:pt idx="95">
                  <c:v>Ghost</c:v>
                </c:pt>
                <c:pt idx="96">
                  <c:v>GL-Class</c:v>
                </c:pt>
                <c:pt idx="97">
                  <c:v>GLK-Class</c:v>
                </c:pt>
                <c:pt idx="98">
                  <c:v>Grand Caravan</c:v>
                </c:pt>
                <c:pt idx="99">
                  <c:v>Grand Cherokee</c:v>
                </c:pt>
                <c:pt idx="100">
                  <c:v>GranTurismo</c:v>
                </c:pt>
                <c:pt idx="101">
                  <c:v>GranTurismo Convertible</c:v>
                </c:pt>
                <c:pt idx="102">
                  <c:v>GS 350</c:v>
                </c:pt>
                <c:pt idx="103">
                  <c:v>GT-R</c:v>
                </c:pt>
                <c:pt idx="104">
                  <c:v>H2</c:v>
                </c:pt>
                <c:pt idx="105">
                  <c:v>H2 SUT</c:v>
                </c:pt>
                <c:pt idx="106">
                  <c:v>H3T</c:v>
                </c:pt>
                <c:pt idx="107">
                  <c:v>Highlander</c:v>
                </c:pt>
                <c:pt idx="108">
                  <c:v>Impala</c:v>
                </c:pt>
                <c:pt idx="109">
                  <c:v>Impala Limited</c:v>
                </c:pt>
                <c:pt idx="110">
                  <c:v>interstate</c:v>
                </c:pt>
                <c:pt idx="111">
                  <c:v>IS 250</c:v>
                </c:pt>
                <c:pt idx="112">
                  <c:v>Jetta</c:v>
                </c:pt>
                <c:pt idx="113">
                  <c:v>Journey</c:v>
                </c:pt>
                <c:pt idx="114">
                  <c:v>Lancer Evolution</c:v>
                </c:pt>
                <c:pt idx="115">
                  <c:v>Liberty</c:v>
                </c:pt>
                <c:pt idx="116">
                  <c:v>lr3</c:v>
                </c:pt>
                <c:pt idx="117">
                  <c:v>LX 570</c:v>
                </c:pt>
                <c:pt idx="118">
                  <c:v>M</c:v>
                </c:pt>
                <c:pt idx="119">
                  <c:v>M3</c:v>
                </c:pt>
                <c:pt idx="120">
                  <c:v>M4</c:v>
                </c:pt>
                <c:pt idx="121">
                  <c:v>M5</c:v>
                </c:pt>
                <c:pt idx="122">
                  <c:v>M6</c:v>
                </c:pt>
                <c:pt idx="123">
                  <c:v>M6 Gran Coupe</c:v>
                </c:pt>
                <c:pt idx="124">
                  <c:v>Marauder</c:v>
                </c:pt>
                <c:pt idx="125">
                  <c:v>Matrix</c:v>
                </c:pt>
                <c:pt idx="126">
                  <c:v>Maxima</c:v>
                </c:pt>
                <c:pt idx="127">
                  <c:v>Mazda2</c:v>
                </c:pt>
                <c:pt idx="128">
                  <c:v>Mazda3</c:v>
                </c:pt>
                <c:pt idx="129">
                  <c:v>M-Class</c:v>
                </c:pt>
                <c:pt idx="130">
                  <c:v>MKT</c:v>
                </c:pt>
                <c:pt idx="131">
                  <c:v>MKZ</c:v>
                </c:pt>
                <c:pt idx="132">
                  <c:v>Model S</c:v>
                </c:pt>
                <c:pt idx="133">
                  <c:v>Monte Carlo</c:v>
                </c:pt>
                <c:pt idx="134">
                  <c:v>Murano</c:v>
                </c:pt>
                <c:pt idx="135">
                  <c:v>Mustang</c:v>
                </c:pt>
                <c:pt idx="136">
                  <c:v>Mustang SVT Cobra</c:v>
                </c:pt>
                <c:pt idx="137">
                  <c:v>Navigator</c:v>
                </c:pt>
                <c:pt idx="138">
                  <c:v>null</c:v>
                </c:pt>
                <c:pt idx="139">
                  <c:v>NV</c:v>
                </c:pt>
                <c:pt idx="140">
                  <c:v>Odyssey</c:v>
                </c:pt>
                <c:pt idx="141">
                  <c:v>Optima</c:v>
                </c:pt>
                <c:pt idx="142">
                  <c:v>Outback</c:v>
                </c:pt>
                <c:pt idx="143">
                  <c:v>Panamera</c:v>
                </c:pt>
                <c:pt idx="144">
                  <c:v>Pathfinder</c:v>
                </c:pt>
                <c:pt idx="145">
                  <c:v>Patriot</c:v>
                </c:pt>
                <c:pt idx="146">
                  <c:v>PT Cruiser</c:v>
                </c:pt>
                <c:pt idx="147">
                  <c:v>Q60 Convertible</c:v>
                </c:pt>
                <c:pt idx="148">
                  <c:v>Q7</c:v>
                </c:pt>
                <c:pt idx="149">
                  <c:v>Quattroporte</c:v>
                </c:pt>
                <c:pt idx="150">
                  <c:v>Quest</c:v>
                </c:pt>
                <c:pt idx="151">
                  <c:v>QX</c:v>
                </c:pt>
                <c:pt idx="152">
                  <c:v>QX56</c:v>
                </c:pt>
                <c:pt idx="153">
                  <c:v>QX60</c:v>
                </c:pt>
                <c:pt idx="154">
                  <c:v>QX70</c:v>
                </c:pt>
                <c:pt idx="155">
                  <c:v>QX80</c:v>
                </c:pt>
                <c:pt idx="156">
                  <c:v>Ram Pickup 1500</c:v>
                </c:pt>
                <c:pt idx="157">
                  <c:v>Ram Pickup 2500</c:v>
                </c:pt>
                <c:pt idx="158">
                  <c:v>Ram Pickup 3500</c:v>
                </c:pt>
                <c:pt idx="159">
                  <c:v>Range Rover</c:v>
                </c:pt>
                <c:pt idx="160">
                  <c:v>Range Rover Sport</c:v>
                </c:pt>
                <c:pt idx="161">
                  <c:v>Ranger</c:v>
                </c:pt>
                <c:pt idx="162">
                  <c:v>Rapide</c:v>
                </c:pt>
                <c:pt idx="163">
                  <c:v>RAV4</c:v>
                </c:pt>
                <c:pt idx="164">
                  <c:v>Regal</c:v>
                </c:pt>
                <c:pt idx="165">
                  <c:v>Rogue Select</c:v>
                </c:pt>
                <c:pt idx="166">
                  <c:v>RX 330</c:v>
                </c:pt>
                <c:pt idx="167">
                  <c:v>S2000</c:v>
                </c:pt>
                <c:pt idx="168">
                  <c:v>S5</c:v>
                </c:pt>
                <c:pt idx="169">
                  <c:v>S60</c:v>
                </c:pt>
                <c:pt idx="170">
                  <c:v>S7</c:v>
                </c:pt>
                <c:pt idx="171">
                  <c:v>Santa Fe</c:v>
                </c:pt>
                <c:pt idx="172">
                  <c:v>Santa Fe Sport</c:v>
                </c:pt>
                <c:pt idx="173">
                  <c:v>Savana</c:v>
                </c:pt>
                <c:pt idx="174">
                  <c:v>Savana Cargo</c:v>
                </c:pt>
                <c:pt idx="175">
                  <c:v>S-Class</c:v>
                </c:pt>
                <c:pt idx="176">
                  <c:v>Sentra</c:v>
                </c:pt>
                <c:pt idx="177">
                  <c:v>Sequoia</c:v>
                </c:pt>
                <c:pt idx="178">
                  <c:v>Sienna</c:v>
                </c:pt>
                <c:pt idx="179">
                  <c:v>Sierra 1500</c:v>
                </c:pt>
                <c:pt idx="180">
                  <c:v>Sierra 2500HD</c:v>
                </c:pt>
                <c:pt idx="181">
                  <c:v>Sierra 2500HD Classic</c:v>
                </c:pt>
                <c:pt idx="182">
                  <c:v>Sierra 3500HD</c:v>
                </c:pt>
                <c:pt idx="183">
                  <c:v>Silverado 1500</c:v>
                </c:pt>
                <c:pt idx="184">
                  <c:v>Silverado 2500HD</c:v>
                </c:pt>
                <c:pt idx="185">
                  <c:v>Silverado 3500</c:v>
                </c:pt>
                <c:pt idx="186">
                  <c:v>Silverado 3500HD</c:v>
                </c:pt>
                <c:pt idx="187">
                  <c:v>Sonata</c:v>
                </c:pt>
                <c:pt idx="188">
                  <c:v>Sonic</c:v>
                </c:pt>
                <c:pt idx="189">
                  <c:v>Spark</c:v>
                </c:pt>
                <c:pt idx="190">
                  <c:v>Sprinter</c:v>
                </c:pt>
                <c:pt idx="191">
                  <c:v>Sprinter Cargo</c:v>
                </c:pt>
                <c:pt idx="192">
                  <c:v>SRX</c:v>
                </c:pt>
                <c:pt idx="193">
                  <c:v>Suburban</c:v>
                </c:pt>
                <c:pt idx="194">
                  <c:v>Tacoma</c:v>
                </c:pt>
                <c:pt idx="195">
                  <c:v>Tahoe</c:v>
                </c:pt>
                <c:pt idx="196">
                  <c:v>Taurus</c:v>
                </c:pt>
                <c:pt idx="197">
                  <c:v>Tiguan</c:v>
                </c:pt>
                <c:pt idx="198">
                  <c:v>Titan</c:v>
                </c:pt>
                <c:pt idx="199">
                  <c:v>Touareg</c:v>
                </c:pt>
                <c:pt idx="200">
                  <c:v>Town and Country</c:v>
                </c:pt>
                <c:pt idx="201">
                  <c:v>Town Car</c:v>
                </c:pt>
                <c:pt idx="202">
                  <c:v>Transit Connect</c:v>
                </c:pt>
                <c:pt idx="203">
                  <c:v>Traverse</c:v>
                </c:pt>
                <c:pt idx="204">
                  <c:v>Tribute</c:v>
                </c:pt>
                <c:pt idx="205">
                  <c:v>Tundra</c:v>
                </c:pt>
                <c:pt idx="206">
                  <c:v>V8 Vantage</c:v>
                </c:pt>
                <c:pt idx="207">
                  <c:v>Veloster</c:v>
                </c:pt>
                <c:pt idx="208">
                  <c:v>Versa</c:v>
                </c:pt>
                <c:pt idx="209">
                  <c:v>Versa Note</c:v>
                </c:pt>
                <c:pt idx="210">
                  <c:v>Viper</c:v>
                </c:pt>
                <c:pt idx="211">
                  <c:v>Volt</c:v>
                </c:pt>
                <c:pt idx="212">
                  <c:v>Wrangler</c:v>
                </c:pt>
                <c:pt idx="213">
                  <c:v>X1</c:v>
                </c:pt>
                <c:pt idx="214">
                  <c:v>X3</c:v>
                </c:pt>
                <c:pt idx="215">
                  <c:v>X5</c:v>
                </c:pt>
                <c:pt idx="216">
                  <c:v>X6</c:v>
                </c:pt>
                <c:pt idx="217">
                  <c:v>X6 M</c:v>
                </c:pt>
                <c:pt idx="218">
                  <c:v>XC90</c:v>
                </c:pt>
                <c:pt idx="219">
                  <c:v>XF</c:v>
                </c:pt>
                <c:pt idx="220">
                  <c:v>Xterra</c:v>
                </c:pt>
                <c:pt idx="221">
                  <c:v>Yaris</c:v>
                </c:pt>
                <c:pt idx="222">
                  <c:v>Yukon</c:v>
                </c:pt>
                <c:pt idx="223">
                  <c:v>Yukon XL</c:v>
                </c:pt>
                <c:pt idx="224">
                  <c:v>Z4</c:v>
                </c:pt>
                <c:pt idx="225">
                  <c:v>2025/09/05</c:v>
                </c:pt>
              </c:strCache>
            </c:strRef>
          </c:cat>
          <c:val>
            <c:numRef>
              <c:f>Sheet9!$B$4:$B$230</c:f>
              <c:numCache>
                <c:formatCode>General</c:formatCode>
                <c:ptCount val="226"/>
                <c:pt idx="0">
                  <c:v>10</c:v>
                </c:pt>
                <c:pt idx="1">
                  <c:v>1</c:v>
                </c:pt>
                <c:pt idx="2">
                  <c:v>13</c:v>
                </c:pt>
                <c:pt idx="3">
                  <c:v>7</c:v>
                </c:pt>
                <c:pt idx="4">
                  <c:v>9</c:v>
                </c:pt>
                <c:pt idx="5">
                  <c:v>5</c:v>
                </c:pt>
                <c:pt idx="6">
                  <c:v>1</c:v>
                </c:pt>
                <c:pt idx="7">
                  <c:v>3</c:v>
                </c:pt>
                <c:pt idx="8">
                  <c:v>18</c:v>
                </c:pt>
                <c:pt idx="9">
                  <c:v>2</c:v>
                </c:pt>
                <c:pt idx="10">
                  <c:v>1</c:v>
                </c:pt>
                <c:pt idx="11">
                  <c:v>2</c:v>
                </c:pt>
                <c:pt idx="12">
                  <c:v>14</c:v>
                </c:pt>
                <c:pt idx="13">
                  <c:v>3</c:v>
                </c:pt>
                <c:pt idx="14">
                  <c:v>15</c:v>
                </c:pt>
                <c:pt idx="15">
                  <c:v>9</c:v>
                </c:pt>
                <c:pt idx="16">
                  <c:v>2</c:v>
                </c:pt>
                <c:pt idx="17">
                  <c:v>8</c:v>
                </c:pt>
                <c:pt idx="18">
                  <c:v>1</c:v>
                </c:pt>
                <c:pt idx="19">
                  <c:v>3</c:v>
                </c:pt>
                <c:pt idx="20">
                  <c:v>1</c:v>
                </c:pt>
                <c:pt idx="21">
                  <c:v>8</c:v>
                </c:pt>
                <c:pt idx="22">
                  <c:v>1</c:v>
                </c:pt>
                <c:pt idx="23">
                  <c:v>3</c:v>
                </c:pt>
                <c:pt idx="24">
                  <c:v>2</c:v>
                </c:pt>
                <c:pt idx="25">
                  <c:v>7</c:v>
                </c:pt>
                <c:pt idx="26">
                  <c:v>10</c:v>
                </c:pt>
                <c:pt idx="27">
                  <c:v>2</c:v>
                </c:pt>
                <c:pt idx="28">
                  <c:v>2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3</c:v>
                </c:pt>
                <c:pt idx="33">
                  <c:v>6</c:v>
                </c:pt>
                <c:pt idx="34">
                  <c:v>1</c:v>
                </c:pt>
                <c:pt idx="35">
                  <c:v>5</c:v>
                </c:pt>
                <c:pt idx="36">
                  <c:v>1</c:v>
                </c:pt>
                <c:pt idx="37">
                  <c:v>9</c:v>
                </c:pt>
                <c:pt idx="38">
                  <c:v>3</c:v>
                </c:pt>
                <c:pt idx="39">
                  <c:v>1</c:v>
                </c:pt>
                <c:pt idx="40">
                  <c:v>3</c:v>
                </c:pt>
                <c:pt idx="41">
                  <c:v>2</c:v>
                </c:pt>
                <c:pt idx="42">
                  <c:v>2</c:v>
                </c:pt>
                <c:pt idx="43">
                  <c:v>1</c:v>
                </c:pt>
                <c:pt idx="44">
                  <c:v>2</c:v>
                </c:pt>
                <c:pt idx="45">
                  <c:v>3</c:v>
                </c:pt>
                <c:pt idx="46">
                  <c:v>4</c:v>
                </c:pt>
                <c:pt idx="47">
                  <c:v>2</c:v>
                </c:pt>
                <c:pt idx="48">
                  <c:v>2</c:v>
                </c:pt>
                <c:pt idx="49">
                  <c:v>3</c:v>
                </c:pt>
                <c:pt idx="50">
                  <c:v>9</c:v>
                </c:pt>
                <c:pt idx="51">
                  <c:v>11</c:v>
                </c:pt>
                <c:pt idx="52">
                  <c:v>2</c:v>
                </c:pt>
                <c:pt idx="53">
                  <c:v>3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6</c:v>
                </c:pt>
                <c:pt idx="60">
                  <c:v>2</c:v>
                </c:pt>
                <c:pt idx="61">
                  <c:v>2</c:v>
                </c:pt>
                <c:pt idx="62">
                  <c:v>4</c:v>
                </c:pt>
                <c:pt idx="63">
                  <c:v>1</c:v>
                </c:pt>
                <c:pt idx="64">
                  <c:v>9</c:v>
                </c:pt>
                <c:pt idx="65">
                  <c:v>1</c:v>
                </c:pt>
                <c:pt idx="66">
                  <c:v>3</c:v>
                </c:pt>
                <c:pt idx="67">
                  <c:v>2</c:v>
                </c:pt>
                <c:pt idx="68">
                  <c:v>5</c:v>
                </c:pt>
                <c:pt idx="69">
                  <c:v>13</c:v>
                </c:pt>
                <c:pt idx="70">
                  <c:v>2</c:v>
                </c:pt>
                <c:pt idx="71">
                  <c:v>1</c:v>
                </c:pt>
                <c:pt idx="72">
                  <c:v>2</c:v>
                </c:pt>
                <c:pt idx="73">
                  <c:v>3</c:v>
                </c:pt>
                <c:pt idx="74">
                  <c:v>8</c:v>
                </c:pt>
                <c:pt idx="75">
                  <c:v>3</c:v>
                </c:pt>
                <c:pt idx="76">
                  <c:v>4</c:v>
                </c:pt>
                <c:pt idx="77">
                  <c:v>39</c:v>
                </c:pt>
                <c:pt idx="78">
                  <c:v>43</c:v>
                </c:pt>
                <c:pt idx="79">
                  <c:v>30</c:v>
                </c:pt>
                <c:pt idx="80">
                  <c:v>4</c:v>
                </c:pt>
                <c:pt idx="81">
                  <c:v>5</c:v>
                </c:pt>
                <c:pt idx="82">
                  <c:v>1</c:v>
                </c:pt>
                <c:pt idx="83">
                  <c:v>1</c:v>
                </c:pt>
                <c:pt idx="84">
                  <c:v>29</c:v>
                </c:pt>
                <c:pt idx="85">
                  <c:v>1</c:v>
                </c:pt>
                <c:pt idx="86">
                  <c:v>11</c:v>
                </c:pt>
                <c:pt idx="87">
                  <c:v>1</c:v>
                </c:pt>
                <c:pt idx="88">
                  <c:v>3</c:v>
                </c:pt>
                <c:pt idx="89">
                  <c:v>2</c:v>
                </c:pt>
                <c:pt idx="90">
                  <c:v>1</c:v>
                </c:pt>
                <c:pt idx="91">
                  <c:v>2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3</c:v>
                </c:pt>
                <c:pt idx="96">
                  <c:v>21</c:v>
                </c:pt>
                <c:pt idx="97">
                  <c:v>2</c:v>
                </c:pt>
                <c:pt idx="98">
                  <c:v>10</c:v>
                </c:pt>
                <c:pt idx="99">
                  <c:v>1</c:v>
                </c:pt>
                <c:pt idx="100">
                  <c:v>3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10</c:v>
                </c:pt>
                <c:pt idx="105">
                  <c:v>5</c:v>
                </c:pt>
                <c:pt idx="106">
                  <c:v>1</c:v>
                </c:pt>
                <c:pt idx="107">
                  <c:v>3</c:v>
                </c:pt>
                <c:pt idx="108">
                  <c:v>4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2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2</c:v>
                </c:pt>
                <c:pt idx="119">
                  <c:v>6</c:v>
                </c:pt>
                <c:pt idx="120">
                  <c:v>1</c:v>
                </c:pt>
                <c:pt idx="121">
                  <c:v>9</c:v>
                </c:pt>
                <c:pt idx="122">
                  <c:v>4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3</c:v>
                </c:pt>
                <c:pt idx="127">
                  <c:v>1</c:v>
                </c:pt>
                <c:pt idx="128">
                  <c:v>1</c:v>
                </c:pt>
                <c:pt idx="129">
                  <c:v>2</c:v>
                </c:pt>
                <c:pt idx="130">
                  <c:v>1</c:v>
                </c:pt>
                <c:pt idx="131">
                  <c:v>2</c:v>
                </c:pt>
                <c:pt idx="132">
                  <c:v>1</c:v>
                </c:pt>
                <c:pt idx="133">
                  <c:v>1</c:v>
                </c:pt>
                <c:pt idx="134">
                  <c:v>12</c:v>
                </c:pt>
                <c:pt idx="135">
                  <c:v>21</c:v>
                </c:pt>
                <c:pt idx="136">
                  <c:v>1</c:v>
                </c:pt>
                <c:pt idx="137">
                  <c:v>4</c:v>
                </c:pt>
                <c:pt idx="138">
                  <c:v>35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5</c:v>
                </c:pt>
                <c:pt idx="144">
                  <c:v>5</c:v>
                </c:pt>
                <c:pt idx="145">
                  <c:v>2</c:v>
                </c:pt>
                <c:pt idx="146">
                  <c:v>1</c:v>
                </c:pt>
                <c:pt idx="147">
                  <c:v>3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3</c:v>
                </c:pt>
                <c:pt idx="153">
                  <c:v>4</c:v>
                </c:pt>
                <c:pt idx="154">
                  <c:v>2</c:v>
                </c:pt>
                <c:pt idx="155">
                  <c:v>2</c:v>
                </c:pt>
                <c:pt idx="156">
                  <c:v>2</c:v>
                </c:pt>
                <c:pt idx="157">
                  <c:v>10</c:v>
                </c:pt>
                <c:pt idx="158">
                  <c:v>10</c:v>
                </c:pt>
                <c:pt idx="159">
                  <c:v>7</c:v>
                </c:pt>
                <c:pt idx="160">
                  <c:v>6</c:v>
                </c:pt>
                <c:pt idx="161">
                  <c:v>1</c:v>
                </c:pt>
                <c:pt idx="162">
                  <c:v>1</c:v>
                </c:pt>
                <c:pt idx="163">
                  <c:v>2</c:v>
                </c:pt>
                <c:pt idx="164">
                  <c:v>2</c:v>
                </c:pt>
                <c:pt idx="165">
                  <c:v>1</c:v>
                </c:pt>
                <c:pt idx="166">
                  <c:v>8</c:v>
                </c:pt>
                <c:pt idx="167">
                  <c:v>2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3</c:v>
                </c:pt>
                <c:pt idx="173">
                  <c:v>1</c:v>
                </c:pt>
                <c:pt idx="174">
                  <c:v>1</c:v>
                </c:pt>
                <c:pt idx="175">
                  <c:v>17</c:v>
                </c:pt>
                <c:pt idx="176">
                  <c:v>4</c:v>
                </c:pt>
                <c:pt idx="177">
                  <c:v>3</c:v>
                </c:pt>
                <c:pt idx="178">
                  <c:v>8</c:v>
                </c:pt>
                <c:pt idx="179">
                  <c:v>17</c:v>
                </c:pt>
                <c:pt idx="180">
                  <c:v>8</c:v>
                </c:pt>
                <c:pt idx="181">
                  <c:v>1</c:v>
                </c:pt>
                <c:pt idx="182">
                  <c:v>1</c:v>
                </c:pt>
                <c:pt idx="183">
                  <c:v>28</c:v>
                </c:pt>
                <c:pt idx="184">
                  <c:v>31</c:v>
                </c:pt>
                <c:pt idx="185">
                  <c:v>3</c:v>
                </c:pt>
                <c:pt idx="186">
                  <c:v>4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2</c:v>
                </c:pt>
                <c:pt idx="192">
                  <c:v>1</c:v>
                </c:pt>
                <c:pt idx="193">
                  <c:v>11</c:v>
                </c:pt>
                <c:pt idx="194">
                  <c:v>1</c:v>
                </c:pt>
                <c:pt idx="195">
                  <c:v>12</c:v>
                </c:pt>
                <c:pt idx="196">
                  <c:v>3</c:v>
                </c:pt>
                <c:pt idx="197">
                  <c:v>1</c:v>
                </c:pt>
                <c:pt idx="198">
                  <c:v>2</c:v>
                </c:pt>
                <c:pt idx="199">
                  <c:v>3</c:v>
                </c:pt>
                <c:pt idx="200">
                  <c:v>8</c:v>
                </c:pt>
                <c:pt idx="201">
                  <c:v>1</c:v>
                </c:pt>
                <c:pt idx="202">
                  <c:v>2</c:v>
                </c:pt>
                <c:pt idx="203">
                  <c:v>2</c:v>
                </c:pt>
                <c:pt idx="204">
                  <c:v>2</c:v>
                </c:pt>
                <c:pt idx="205">
                  <c:v>12</c:v>
                </c:pt>
                <c:pt idx="206">
                  <c:v>1</c:v>
                </c:pt>
                <c:pt idx="207">
                  <c:v>3</c:v>
                </c:pt>
                <c:pt idx="208">
                  <c:v>4</c:v>
                </c:pt>
                <c:pt idx="209">
                  <c:v>6</c:v>
                </c:pt>
                <c:pt idx="210">
                  <c:v>1</c:v>
                </c:pt>
                <c:pt idx="211">
                  <c:v>1</c:v>
                </c:pt>
                <c:pt idx="212">
                  <c:v>36</c:v>
                </c:pt>
                <c:pt idx="213">
                  <c:v>10</c:v>
                </c:pt>
                <c:pt idx="214">
                  <c:v>5</c:v>
                </c:pt>
                <c:pt idx="215">
                  <c:v>11</c:v>
                </c:pt>
                <c:pt idx="216">
                  <c:v>3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3</c:v>
                </c:pt>
                <c:pt idx="221">
                  <c:v>1</c:v>
                </c:pt>
                <c:pt idx="222">
                  <c:v>3</c:v>
                </c:pt>
                <c:pt idx="223">
                  <c:v>5</c:v>
                </c:pt>
                <c:pt idx="224">
                  <c:v>1</c:v>
                </c:pt>
                <c:pt idx="22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10-445C-B28B-2D9D18995B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lt1">
                  <a:alpha val="40000"/>
                </a:schemeClr>
              </a:solidFill>
              <a:round/>
            </a:ln>
            <a:effectLst/>
          </c:spPr>
        </c:dropLines>
        <c:axId val="1037017648"/>
        <c:axId val="1042141248"/>
      </c:areaChart>
      <c:catAx>
        <c:axId val="1037017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75" cap="flat" cmpd="sng" algn="ctr">
            <a:solidFill>
              <a:schemeClr val="lt1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2141248"/>
        <c:crosses val="autoZero"/>
        <c:auto val="1"/>
        <c:lblAlgn val="ctr"/>
        <c:lblOffset val="100"/>
        <c:noMultiLvlLbl val="0"/>
      </c:catAx>
      <c:valAx>
        <c:axId val="1042141248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prstDash val="sysDot"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701764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lt1">
          <a:lumMod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[CAR SALES PIVOTS.csv]Sheet10!PivotTable20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</c:marker>
      </c:pivotFmt>
      <c:pivotFmt>
        <c:idx val="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Sheet10!$B$3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Sheet10!$A$4:$A$22</c:f>
              <c:strCache>
                <c:ptCount val="18"/>
                <c:pt idx="0">
                  <c:v>â€”</c:v>
                </c:pt>
                <c:pt idx="1">
                  <c:v>beige</c:v>
                </c:pt>
                <c:pt idx="2">
                  <c:v>black</c:v>
                </c:pt>
                <c:pt idx="3">
                  <c:v>blue</c:v>
                </c:pt>
                <c:pt idx="4">
                  <c:v>brown</c:v>
                </c:pt>
                <c:pt idx="5">
                  <c:v>burgundy</c:v>
                </c:pt>
                <c:pt idx="6">
                  <c:v>charcoal</c:v>
                </c:pt>
                <c:pt idx="7">
                  <c:v>gold</c:v>
                </c:pt>
                <c:pt idx="8">
                  <c:v>gray</c:v>
                </c:pt>
                <c:pt idx="9">
                  <c:v>green</c:v>
                </c:pt>
                <c:pt idx="10">
                  <c:v>null</c:v>
                </c:pt>
                <c:pt idx="11">
                  <c:v>off-white</c:v>
                </c:pt>
                <c:pt idx="12">
                  <c:v>orange</c:v>
                </c:pt>
                <c:pt idx="13">
                  <c:v>purple</c:v>
                </c:pt>
                <c:pt idx="14">
                  <c:v>red</c:v>
                </c:pt>
                <c:pt idx="15">
                  <c:v>silver</c:v>
                </c:pt>
                <c:pt idx="16">
                  <c:v>white</c:v>
                </c:pt>
                <c:pt idx="17">
                  <c:v>yellow</c:v>
                </c:pt>
              </c:strCache>
            </c:strRef>
          </c:cat>
          <c:val>
            <c:numRef>
              <c:f>Sheet10!$B$4:$B$22</c:f>
              <c:numCache>
                <c:formatCode>"R"#\ ##0.00</c:formatCode>
                <c:ptCount val="18"/>
                <c:pt idx="0">
                  <c:v>2567900</c:v>
                </c:pt>
                <c:pt idx="1">
                  <c:v>332550</c:v>
                </c:pt>
                <c:pt idx="2">
                  <c:v>10230725</c:v>
                </c:pt>
                <c:pt idx="3">
                  <c:v>1578350</c:v>
                </c:pt>
                <c:pt idx="4">
                  <c:v>393250</c:v>
                </c:pt>
                <c:pt idx="5">
                  <c:v>555700</c:v>
                </c:pt>
                <c:pt idx="6">
                  <c:v>43250</c:v>
                </c:pt>
                <c:pt idx="7">
                  <c:v>239750</c:v>
                </c:pt>
                <c:pt idx="8">
                  <c:v>4907851</c:v>
                </c:pt>
                <c:pt idx="9">
                  <c:v>720000</c:v>
                </c:pt>
                <c:pt idx="10">
                  <c:v>1371800</c:v>
                </c:pt>
                <c:pt idx="11">
                  <c:v>93050</c:v>
                </c:pt>
                <c:pt idx="12">
                  <c:v>436350</c:v>
                </c:pt>
                <c:pt idx="13">
                  <c:v>88500</c:v>
                </c:pt>
                <c:pt idx="14">
                  <c:v>2607850</c:v>
                </c:pt>
                <c:pt idx="15">
                  <c:v>2757050</c:v>
                </c:pt>
                <c:pt idx="16">
                  <c:v>10885850</c:v>
                </c:pt>
                <c:pt idx="17">
                  <c:v>357200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05-4ACA-B355-D6B42BDD4F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041959456"/>
        <c:axId val="1042131264"/>
      </c:barChart>
      <c:catAx>
        <c:axId val="1041959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2131264"/>
        <c:crosses val="autoZero"/>
        <c:auto val="1"/>
        <c:lblAlgn val="ctr"/>
        <c:lblOffset val="100"/>
        <c:noMultiLvlLbl val="0"/>
      </c:catAx>
      <c:valAx>
        <c:axId val="1042131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&quot;R&quot;#\ 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1959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[CAR SALES PIVOTS.csv]Sheet11!PivotTable22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lt1">
                  <a:lumMod val="8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  <a:round/>
            </a:ln>
            <a:effectLst/>
          </c:spPr>
        </c:marker>
      </c:pivotFmt>
      <c:pivotFmt>
        <c:idx val="1"/>
        <c:spPr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marker>
          <c:symbol val="none"/>
        </c:marker>
      </c:pivotFmt>
      <c:pivotFmt>
        <c:idx val="2"/>
        <c:spPr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marker>
          <c:symbol val="none"/>
        </c:marker>
      </c:pivotFmt>
    </c:pivotFmts>
    <c:plotArea>
      <c:layout/>
      <c:areaChart>
        <c:grouping val="standard"/>
        <c:varyColors val="0"/>
        <c:ser>
          <c:idx val="0"/>
          <c:order val="0"/>
          <c:tx>
            <c:strRef>
              <c:f>Sheet11!$B$3</c:f>
              <c:strCache>
                <c:ptCount val="1"/>
                <c:pt idx="0">
                  <c:v>Total</c:v>
                </c:pt>
              </c:strCache>
            </c:strRef>
          </c:tx>
          <c:spPr>
            <a:gradFill>
              <a:gsLst>
                <a:gs pos="100000">
                  <a:schemeClr val="accent2"/>
                </a:gs>
                <a:gs pos="0">
                  <a:schemeClr val="accent2">
                    <a:lumMod val="75000"/>
                  </a:schemeClr>
                </a:gs>
              </a:gsLst>
              <a:lin ang="0" scaled="1"/>
            </a:gradFill>
            <a:ln>
              <a:noFill/>
            </a:ln>
            <a:effectLst>
              <a:innerShdw dist="12700" dir="16200000">
                <a:schemeClr val="lt1">
                  <a:alpha val="75000"/>
                </a:schemeClr>
              </a:innerShdw>
            </a:effectLst>
          </c:spPr>
          <c:cat>
            <c:strRef>
              <c:f>Sheet11!$A$4:$A$19</c:f>
              <c:strCache>
                <c:ptCount val="15"/>
                <c:pt idx="0">
                  <c:v>â€”</c:v>
                </c:pt>
                <c:pt idx="1">
                  <c:v>beige</c:v>
                </c:pt>
                <c:pt idx="2">
                  <c:v>black</c:v>
                </c:pt>
                <c:pt idx="3">
                  <c:v>blue</c:v>
                </c:pt>
                <c:pt idx="4">
                  <c:v>brown</c:v>
                </c:pt>
                <c:pt idx="5">
                  <c:v>gold</c:v>
                </c:pt>
                <c:pt idx="6">
                  <c:v>gray</c:v>
                </c:pt>
                <c:pt idx="7">
                  <c:v>null</c:v>
                </c:pt>
                <c:pt idx="8">
                  <c:v>off-white</c:v>
                </c:pt>
                <c:pt idx="9">
                  <c:v>orange</c:v>
                </c:pt>
                <c:pt idx="10">
                  <c:v>purple</c:v>
                </c:pt>
                <c:pt idx="11">
                  <c:v>red</c:v>
                </c:pt>
                <c:pt idx="12">
                  <c:v>silver</c:v>
                </c:pt>
                <c:pt idx="13">
                  <c:v>tan</c:v>
                </c:pt>
                <c:pt idx="14">
                  <c:v>white</c:v>
                </c:pt>
              </c:strCache>
            </c:strRef>
          </c:cat>
          <c:val>
            <c:numRef>
              <c:f>Sheet11!$B$4:$B$19</c:f>
              <c:numCache>
                <c:formatCode>"R"#\ ##0.00</c:formatCode>
                <c:ptCount val="15"/>
                <c:pt idx="0">
                  <c:v>2015100</c:v>
                </c:pt>
                <c:pt idx="1">
                  <c:v>4403650</c:v>
                </c:pt>
                <c:pt idx="2">
                  <c:v>18599575</c:v>
                </c:pt>
                <c:pt idx="3">
                  <c:v>63250</c:v>
                </c:pt>
                <c:pt idx="4">
                  <c:v>1615200</c:v>
                </c:pt>
                <c:pt idx="5">
                  <c:v>11200</c:v>
                </c:pt>
                <c:pt idx="6">
                  <c:v>8177001</c:v>
                </c:pt>
                <c:pt idx="7">
                  <c:v>1371800</c:v>
                </c:pt>
                <c:pt idx="8">
                  <c:v>205500</c:v>
                </c:pt>
                <c:pt idx="9">
                  <c:v>70750</c:v>
                </c:pt>
                <c:pt idx="10">
                  <c:v>152650</c:v>
                </c:pt>
                <c:pt idx="11">
                  <c:v>1030850</c:v>
                </c:pt>
                <c:pt idx="12">
                  <c:v>91000</c:v>
                </c:pt>
                <c:pt idx="13">
                  <c:v>2206950</c:v>
                </c:pt>
                <c:pt idx="14">
                  <c:v>152500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3E-48E6-A227-F8D4874893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lt1">
                  <a:alpha val="40000"/>
                </a:schemeClr>
              </a:solidFill>
              <a:round/>
            </a:ln>
            <a:effectLst/>
          </c:spPr>
        </c:dropLines>
        <c:axId val="1036141568"/>
        <c:axId val="1042154560"/>
      </c:areaChart>
      <c:catAx>
        <c:axId val="1036141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75" cap="flat" cmpd="sng" algn="ctr">
            <a:solidFill>
              <a:schemeClr val="lt1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2154560"/>
        <c:crosses val="autoZero"/>
        <c:auto val="1"/>
        <c:lblAlgn val="ctr"/>
        <c:lblOffset val="100"/>
        <c:noMultiLvlLbl val="0"/>
      </c:catAx>
      <c:valAx>
        <c:axId val="1042154560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prstDash val="sysDot"/>
              <a:round/>
            </a:ln>
            <a:effectLst/>
          </c:spPr>
        </c:majorGridlines>
        <c:numFmt formatCode="&quot;R&quot;#\ ##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61415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lt1">
          <a:lumMod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[CAR SALES PIVOTS.csv]Sheet12!PivotTable24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</c:marker>
      </c:pivotFmt>
      <c:pivotFmt>
        <c:idx val="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Sheet12!$B$3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Sheet12!$A$4:$A$24</c:f>
              <c:strCache>
                <c:ptCount val="20"/>
                <c:pt idx="0">
                  <c:v>1982</c:v>
                </c:pt>
                <c:pt idx="1">
                  <c:v>1988</c:v>
                </c:pt>
                <c:pt idx="2">
                  <c:v>1996</c:v>
                </c:pt>
                <c:pt idx="3">
                  <c:v>1999</c:v>
                </c:pt>
                <c:pt idx="4">
                  <c:v>2000</c:v>
                </c:pt>
                <c:pt idx="5">
                  <c:v>2001</c:v>
                </c:pt>
                <c:pt idx="6">
                  <c:v>2002</c:v>
                </c:pt>
                <c:pt idx="7">
                  <c:v>2003</c:v>
                </c:pt>
                <c:pt idx="8">
                  <c:v>2004</c:v>
                </c:pt>
                <c:pt idx="9">
                  <c:v>2005</c:v>
                </c:pt>
                <c:pt idx="10">
                  <c:v>2006</c:v>
                </c:pt>
                <c:pt idx="11">
                  <c:v>2007</c:v>
                </c:pt>
                <c:pt idx="12">
                  <c:v>2008</c:v>
                </c:pt>
                <c:pt idx="13">
                  <c:v>2009</c:v>
                </c:pt>
                <c:pt idx="14">
                  <c:v>2010</c:v>
                </c:pt>
                <c:pt idx="15">
                  <c:v>2011</c:v>
                </c:pt>
                <c:pt idx="16">
                  <c:v>2012</c:v>
                </c:pt>
                <c:pt idx="17">
                  <c:v>2013</c:v>
                </c:pt>
                <c:pt idx="18">
                  <c:v>2014</c:v>
                </c:pt>
                <c:pt idx="19">
                  <c:v>2015</c:v>
                </c:pt>
              </c:strCache>
            </c:strRef>
          </c:cat>
          <c:val>
            <c:numRef>
              <c:f>Sheet12!$B$4:$B$24</c:f>
              <c:numCache>
                <c:formatCode>"R"#\ ##0.00</c:formatCode>
                <c:ptCount val="20"/>
                <c:pt idx="0">
                  <c:v>20500</c:v>
                </c:pt>
                <c:pt idx="1">
                  <c:v>14700</c:v>
                </c:pt>
                <c:pt idx="2">
                  <c:v>12500</c:v>
                </c:pt>
                <c:pt idx="3">
                  <c:v>19750</c:v>
                </c:pt>
                <c:pt idx="4">
                  <c:v>41250</c:v>
                </c:pt>
                <c:pt idx="5">
                  <c:v>35400</c:v>
                </c:pt>
                <c:pt idx="6">
                  <c:v>33700</c:v>
                </c:pt>
                <c:pt idx="7">
                  <c:v>226500</c:v>
                </c:pt>
                <c:pt idx="8">
                  <c:v>425200</c:v>
                </c:pt>
                <c:pt idx="9">
                  <c:v>579350</c:v>
                </c:pt>
                <c:pt idx="10">
                  <c:v>1189100</c:v>
                </c:pt>
                <c:pt idx="11">
                  <c:v>1204800</c:v>
                </c:pt>
                <c:pt idx="12">
                  <c:v>1683200</c:v>
                </c:pt>
                <c:pt idx="13">
                  <c:v>783250</c:v>
                </c:pt>
                <c:pt idx="14">
                  <c:v>1594250</c:v>
                </c:pt>
                <c:pt idx="15">
                  <c:v>2388800</c:v>
                </c:pt>
                <c:pt idx="16">
                  <c:v>4363975</c:v>
                </c:pt>
                <c:pt idx="17">
                  <c:v>8664701</c:v>
                </c:pt>
                <c:pt idx="18">
                  <c:v>12002450</c:v>
                </c:pt>
                <c:pt idx="19">
                  <c:v>4883600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64-455F-A3AF-2CA87C5F69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041875056"/>
        <c:axId val="980451216"/>
      </c:barChart>
      <c:catAx>
        <c:axId val="10418750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0451216"/>
        <c:crosses val="autoZero"/>
        <c:auto val="1"/>
        <c:lblAlgn val="ctr"/>
        <c:lblOffset val="100"/>
        <c:noMultiLvlLbl val="0"/>
      </c:catAx>
      <c:valAx>
        <c:axId val="980451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&quot;R&quot;#\ 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1875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[CAR SALES PIVOTS.csv]Sheet7!PivotTable14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circle"/>
          <c:size val="6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5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7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8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</c:pivotFmts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Sheet7!$B$3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8399-437E-8093-367EED5698B3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8399-437E-8093-367EED5698B3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8399-437E-8093-367EED5698B3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Sheet7!$A$4:$A$7</c:f>
              <c:strCache>
                <c:ptCount val="3"/>
                <c:pt idx="0">
                  <c:v>automatic</c:v>
                </c:pt>
                <c:pt idx="1">
                  <c:v>manual</c:v>
                </c:pt>
                <c:pt idx="2">
                  <c:v>null</c:v>
                </c:pt>
              </c:strCache>
            </c:strRef>
          </c:cat>
          <c:val>
            <c:numRef>
              <c:f>Sheet7!$B$4:$B$7</c:f>
              <c:numCache>
                <c:formatCode>"R"#\ ##0.00</c:formatCode>
                <c:ptCount val="3"/>
                <c:pt idx="0">
                  <c:v>33228776</c:v>
                </c:pt>
                <c:pt idx="1">
                  <c:v>2161200</c:v>
                </c:pt>
                <c:pt idx="2">
                  <c:v>4777000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399-437E-8093-367EED5698B3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77">
  <cs:axisTitle>
    <cs:lnRef idx="0"/>
    <cs:fillRef idx="0"/>
    <cs:effectRef idx="0"/>
    <cs:fontRef idx="minor">
      <a:schemeClr val="lt1">
        <a:lumMod val="85000"/>
      </a:schemeClr>
    </cs:fontRef>
    <cs:defRPr sz="900" kern="1200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75" cap="flat" cmpd="sng" algn="ctr">
        <a:solidFill>
          <a:schemeClr val="lt1">
            <a:lumMod val="75000"/>
          </a:schemeClr>
        </a:solidFill>
        <a:round/>
        <a:headEnd type="none" w="sm" len="sm"/>
        <a:tailEnd type="none" w="sm" len="sm"/>
      </a:ln>
    </cs:spPr>
    <cs:defRPr sz="900" b="1" kern="1200" cap="all" baseline="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lt1">
            <a:lumMod val="7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85000"/>
      </a:schemeClr>
    </cs:fontRef>
    <cs:spPr>
      <a:solidFill>
        <a:schemeClr val="dk1">
          <a:lumMod val="65000"/>
          <a:lumOff val="35000"/>
        </a:schemeClr>
      </a:solidFill>
      <a:ln>
        <a:solidFill>
          <a:schemeClr val="lt1">
            <a:lumMod val="50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lumMod val="75000"/>
            </a:schemeClr>
          </a:gs>
        </a:gsLst>
        <a:lin ang="0" scaled="1"/>
      </a:gradFill>
      <a:effectLst>
        <a:innerShdw dist="12700" dir="16200000">
          <a:schemeClr val="lt1">
            <a:alpha val="75000"/>
          </a:schemeClr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lumMod val="75000"/>
            </a:schemeClr>
          </a:gs>
        </a:gsLst>
        <a:lin ang="0" scaled="1"/>
      </a:gradFill>
      <a:effectLst>
        <a:innerShdw dist="12700" dir="16200000">
          <a:schemeClr val="lt1">
            <a:alpha val="75000"/>
          </a:schemeClr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540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50000"/>
      </a:schemeClr>
    </cs:fontRef>
    <cs:spPr>
      <a:ln w="9525">
        <a:solidFill>
          <a:schemeClr val="lt1">
            <a:lumMod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4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4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prstDash val="sysDot"/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6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bg1">
        <a:lumMod val="85000"/>
      </a:schemeClr>
    </cs:fontRef>
    <cs:spPr>
      <a:ln w="19050" cap="flat" cmpd="sng" algn="ctr">
        <a:solidFill>
          <a:schemeClr val="bg1">
            <a:lumMod val="85000"/>
          </a:schemeClr>
        </a:solidFill>
        <a:round/>
        <a:headEnd type="none" w="sm" len="sm"/>
        <a:tailEnd type="none" w="sm" len="sm"/>
      </a:ln>
    </cs:spPr>
    <cs:defRPr sz="900" b="1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ajor">
      <a:schemeClr val="lt1">
        <a:lumMod val="8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77">
  <cs:axisTitle>
    <cs:lnRef idx="0"/>
    <cs:fillRef idx="0"/>
    <cs:effectRef idx="0"/>
    <cs:fontRef idx="minor">
      <a:schemeClr val="lt1">
        <a:lumMod val="85000"/>
      </a:schemeClr>
    </cs:fontRef>
    <cs:defRPr sz="900" kern="1200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75" cap="flat" cmpd="sng" algn="ctr">
        <a:solidFill>
          <a:schemeClr val="lt1">
            <a:lumMod val="75000"/>
          </a:schemeClr>
        </a:solidFill>
        <a:round/>
        <a:headEnd type="none" w="sm" len="sm"/>
        <a:tailEnd type="none" w="sm" len="sm"/>
      </a:ln>
    </cs:spPr>
    <cs:defRPr sz="900" b="1" kern="1200" cap="all" baseline="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lt1">
            <a:lumMod val="7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85000"/>
      </a:schemeClr>
    </cs:fontRef>
    <cs:spPr>
      <a:solidFill>
        <a:schemeClr val="dk1">
          <a:lumMod val="65000"/>
          <a:lumOff val="35000"/>
        </a:schemeClr>
      </a:solidFill>
      <a:ln>
        <a:solidFill>
          <a:schemeClr val="lt1">
            <a:lumMod val="50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lumMod val="75000"/>
            </a:schemeClr>
          </a:gs>
        </a:gsLst>
        <a:lin ang="0" scaled="1"/>
      </a:gradFill>
      <a:effectLst>
        <a:innerShdw dist="12700" dir="16200000">
          <a:schemeClr val="lt1">
            <a:alpha val="75000"/>
          </a:schemeClr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lumMod val="75000"/>
            </a:schemeClr>
          </a:gs>
        </a:gsLst>
        <a:lin ang="0" scaled="1"/>
      </a:gradFill>
      <a:effectLst>
        <a:innerShdw dist="12700" dir="16200000">
          <a:schemeClr val="lt1">
            <a:alpha val="75000"/>
          </a:schemeClr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540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50000"/>
      </a:schemeClr>
    </cs:fontRef>
    <cs:spPr>
      <a:ln w="9525">
        <a:solidFill>
          <a:schemeClr val="lt1">
            <a:lumMod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4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4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prstDash val="sysDot"/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6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bg1">
        <a:lumMod val="85000"/>
      </a:schemeClr>
    </cs:fontRef>
    <cs:spPr>
      <a:ln w="19050" cap="flat" cmpd="sng" algn="ctr">
        <a:solidFill>
          <a:schemeClr val="bg1">
            <a:lumMod val="85000"/>
          </a:schemeClr>
        </a:solidFill>
        <a:round/>
        <a:headEnd type="none" w="sm" len="sm"/>
        <a:tailEnd type="none" w="sm" len="sm"/>
      </a:ln>
    </cs:spPr>
    <cs:defRPr sz="900" b="1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ajor">
      <a:schemeClr val="lt1">
        <a:lumMod val="8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77">
  <cs:axisTitle>
    <cs:lnRef idx="0"/>
    <cs:fillRef idx="0"/>
    <cs:effectRef idx="0"/>
    <cs:fontRef idx="minor">
      <a:schemeClr val="lt1">
        <a:lumMod val="85000"/>
      </a:schemeClr>
    </cs:fontRef>
    <cs:defRPr sz="900" kern="1200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75" cap="flat" cmpd="sng" algn="ctr">
        <a:solidFill>
          <a:schemeClr val="lt1">
            <a:lumMod val="75000"/>
          </a:schemeClr>
        </a:solidFill>
        <a:round/>
        <a:headEnd type="none" w="sm" len="sm"/>
        <a:tailEnd type="none" w="sm" len="sm"/>
      </a:ln>
    </cs:spPr>
    <cs:defRPr sz="900" b="1" kern="1200" cap="all" baseline="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lt1">
            <a:lumMod val="7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85000"/>
      </a:schemeClr>
    </cs:fontRef>
    <cs:spPr>
      <a:solidFill>
        <a:schemeClr val="dk1">
          <a:lumMod val="65000"/>
          <a:lumOff val="35000"/>
        </a:schemeClr>
      </a:solidFill>
      <a:ln>
        <a:solidFill>
          <a:schemeClr val="lt1">
            <a:lumMod val="50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lumMod val="75000"/>
            </a:schemeClr>
          </a:gs>
        </a:gsLst>
        <a:lin ang="0" scaled="1"/>
      </a:gradFill>
      <a:effectLst>
        <a:innerShdw dist="12700" dir="16200000">
          <a:schemeClr val="lt1">
            <a:alpha val="75000"/>
          </a:schemeClr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lumMod val="75000"/>
            </a:schemeClr>
          </a:gs>
        </a:gsLst>
        <a:lin ang="0" scaled="1"/>
      </a:gradFill>
      <a:effectLst>
        <a:innerShdw dist="12700" dir="16200000">
          <a:schemeClr val="lt1">
            <a:alpha val="75000"/>
          </a:schemeClr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540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50000"/>
      </a:schemeClr>
    </cs:fontRef>
    <cs:spPr>
      <a:ln w="9525">
        <a:solidFill>
          <a:schemeClr val="lt1">
            <a:lumMod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4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4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prstDash val="sysDot"/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6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bg1">
        <a:lumMod val="85000"/>
      </a:schemeClr>
    </cs:fontRef>
    <cs:spPr>
      <a:ln w="19050" cap="flat" cmpd="sng" algn="ctr">
        <a:solidFill>
          <a:schemeClr val="bg1">
            <a:lumMod val="85000"/>
          </a:schemeClr>
        </a:solidFill>
        <a:round/>
        <a:headEnd type="none" w="sm" len="sm"/>
        <a:tailEnd type="none" w="sm" len="sm"/>
      </a:ln>
    </cs:spPr>
    <cs:defRPr sz="900" b="1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ajor">
      <a:schemeClr val="lt1">
        <a:lumMod val="8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77">
  <cs:axisTitle>
    <cs:lnRef idx="0"/>
    <cs:fillRef idx="0"/>
    <cs:effectRef idx="0"/>
    <cs:fontRef idx="minor">
      <a:schemeClr val="lt1">
        <a:lumMod val="85000"/>
      </a:schemeClr>
    </cs:fontRef>
    <cs:defRPr sz="900" kern="1200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75" cap="flat" cmpd="sng" algn="ctr">
        <a:solidFill>
          <a:schemeClr val="lt1">
            <a:lumMod val="75000"/>
          </a:schemeClr>
        </a:solidFill>
        <a:round/>
        <a:headEnd type="none" w="sm" len="sm"/>
        <a:tailEnd type="none" w="sm" len="sm"/>
      </a:ln>
    </cs:spPr>
    <cs:defRPr sz="900" b="1" kern="1200" cap="all" baseline="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lt1">
            <a:lumMod val="7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85000"/>
      </a:schemeClr>
    </cs:fontRef>
    <cs:spPr>
      <a:solidFill>
        <a:schemeClr val="dk1">
          <a:lumMod val="65000"/>
          <a:lumOff val="35000"/>
        </a:schemeClr>
      </a:solidFill>
      <a:ln>
        <a:solidFill>
          <a:schemeClr val="lt1">
            <a:lumMod val="50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lumMod val="75000"/>
            </a:schemeClr>
          </a:gs>
        </a:gsLst>
        <a:lin ang="0" scaled="1"/>
      </a:gradFill>
      <a:effectLst>
        <a:innerShdw dist="12700" dir="16200000">
          <a:schemeClr val="lt1">
            <a:alpha val="75000"/>
          </a:schemeClr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lumMod val="75000"/>
            </a:schemeClr>
          </a:gs>
        </a:gsLst>
        <a:lin ang="0" scaled="1"/>
      </a:gradFill>
      <a:effectLst>
        <a:innerShdw dist="12700" dir="16200000">
          <a:schemeClr val="lt1">
            <a:alpha val="75000"/>
          </a:schemeClr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540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50000"/>
      </a:schemeClr>
    </cs:fontRef>
    <cs:spPr>
      <a:ln w="9525">
        <a:solidFill>
          <a:schemeClr val="lt1">
            <a:lumMod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4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4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prstDash val="sysDot"/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6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bg1">
        <a:lumMod val="85000"/>
      </a:schemeClr>
    </cs:fontRef>
    <cs:spPr>
      <a:ln w="19050" cap="flat" cmpd="sng" algn="ctr">
        <a:solidFill>
          <a:schemeClr val="bg1">
            <a:lumMod val="85000"/>
          </a:schemeClr>
        </a:solidFill>
        <a:round/>
        <a:headEnd type="none" w="sm" len="sm"/>
        <a:tailEnd type="none" w="sm" len="sm"/>
      </a:ln>
    </cs:spPr>
    <cs:defRPr sz="900" b="1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ajor">
      <a:schemeClr val="lt1">
        <a:lumMod val="8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464472-DAE5-4012-9A5A-CB432293B4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6DB41-0314-4E22-8F5A-547FA67B06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33E32-5603-440A-ACDD-7442C88C5FED}" type="datetimeFigureOut">
              <a:rPr lang="en-US" smtClean="0">
                <a:latin typeface="Tw Cen MT" panose="020B0602020104020603" pitchFamily="34" charset="0"/>
              </a:rPr>
              <a:t>11/13/2025</a:t>
            </a:fld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3188E-D235-4A3B-823C-E0E10F336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3A68C-A1CC-4704-8503-01E13B0AED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B1589-0F8A-400D-AEF4-57688446A2F5}" type="slidenum">
              <a:rPr lang="en-US" smtClean="0">
                <a:latin typeface="Tw Cen MT" panose="020B0602020104020603" pitchFamily="34" charset="0"/>
              </a:rPr>
              <a:t>‹#›</a:t>
            </a:fld>
            <a:endParaRPr lang="en-US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10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AF4A386A-BFE4-4655-9801-CBB04655F27A}" type="datetimeFigureOut">
              <a:rPr lang="en-US" noProof="0" smtClean="0"/>
              <a:pPr/>
              <a:t>11/13/2025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DAE5FABD-26C8-4F74-B1E3-45BC91BC9D7B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75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7987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62540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3920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65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43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2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9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31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2466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7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594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552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5425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4886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497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2375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7665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3620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409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13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377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772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6410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6409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0053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0030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6643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942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24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60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147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976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0668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6824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2157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84741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897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1184759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2221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260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8265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02046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005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27057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7058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75266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7223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61092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375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48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1070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65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8915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932519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032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857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48034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55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3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9" r:id="rId2"/>
    <p:sldLayoutId id="2147483961" r:id="rId3"/>
    <p:sldLayoutId id="2147483962" r:id="rId4"/>
    <p:sldLayoutId id="2147483964" r:id="rId5"/>
    <p:sldLayoutId id="2147483958" r:id="rId6"/>
    <p:sldLayoutId id="2147483963" r:id="rId7"/>
    <p:sldLayoutId id="2147483957" r:id="rId8"/>
    <p:sldLayoutId id="2147483965" r:id="rId9"/>
    <p:sldLayoutId id="2147483966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7" r:id="rId17"/>
    <p:sldLayoutId id="2147483967" r:id="rId18"/>
    <p:sldLayoutId id="2147483968" r:id="rId19"/>
    <p:sldLayoutId id="2147483987" r:id="rId20"/>
    <p:sldLayoutId id="2147483969" r:id="rId21"/>
    <p:sldLayoutId id="2147483970" r:id="rId22"/>
    <p:sldLayoutId id="2147483971" r:id="rId23"/>
    <p:sldLayoutId id="2147483972" r:id="rId24"/>
    <p:sldLayoutId id="2147483973" r:id="rId25"/>
    <p:sldLayoutId id="2147483978" r:id="rId26"/>
    <p:sldLayoutId id="2147483974" r:id="rId27"/>
    <p:sldLayoutId id="2147483975" r:id="rId28"/>
    <p:sldLayoutId id="2147483976" r:id="rId29"/>
    <p:sldLayoutId id="2147483977" r:id="rId30"/>
    <p:sldLayoutId id="2147483988" r:id="rId31"/>
    <p:sldLayoutId id="2147483989" r:id="rId32"/>
    <p:sldLayoutId id="2147483990" r:id="rId33"/>
    <p:sldLayoutId id="2147483991" r:id="rId34"/>
    <p:sldLayoutId id="2147483992" r:id="rId35"/>
    <p:sldLayoutId id="2147483993" r:id="rId36"/>
    <p:sldLayoutId id="2147483995" r:id="rId37"/>
    <p:sldLayoutId id="2147484002" r:id="rId38"/>
    <p:sldLayoutId id="2147484003" r:id="rId39"/>
    <p:sldLayoutId id="2147484004" r:id="rId40"/>
    <p:sldLayoutId id="2147483994" r:id="rId41"/>
    <p:sldLayoutId id="2147484005" r:id="rId42"/>
    <p:sldLayoutId id="2147484006" r:id="rId43"/>
    <p:sldLayoutId id="2147483979" r:id="rId44"/>
    <p:sldLayoutId id="2147483980" r:id="rId45"/>
    <p:sldLayoutId id="2147483981" r:id="rId46"/>
    <p:sldLayoutId id="2147483982" r:id="rId47"/>
    <p:sldLayoutId id="2147483983" r:id="rId48"/>
    <p:sldLayoutId id="2147483984" r:id="rId49"/>
    <p:sldLayoutId id="2147483985" r:id="rId50"/>
    <p:sldLayoutId id="2147483986" r:id="rId51"/>
    <p:sldLayoutId id="2147484008" r:id="rId52"/>
    <p:sldLayoutId id="2147484009" r:id="rId53"/>
    <p:sldLayoutId id="2147484010" r:id="rId54"/>
    <p:sldLayoutId id="2147484011" r:id="rId55"/>
    <p:sldLayoutId id="2147484012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285" name="Text Placeholder 284">
            <a:extLst>
              <a:ext uri="{FF2B5EF4-FFF2-40B4-BE49-F238E27FC236}">
                <a16:creationId xmlns:a16="http://schemas.microsoft.com/office/drawing/2014/main" id="{C0BF9B80-F084-4423-8C1C-E79BE8298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6" name="Text Placeholder 285">
            <a:extLst>
              <a:ext uri="{FF2B5EF4-FFF2-40B4-BE49-F238E27FC236}">
                <a16:creationId xmlns:a16="http://schemas.microsoft.com/office/drawing/2014/main" id="{9626180B-FF05-48CF-BFB3-C95C9B5D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3612232"/>
          </a:xfrm>
        </p:spPr>
        <p:txBody>
          <a:bodyPr/>
          <a:lstStyle/>
          <a:p>
            <a:r>
              <a:rPr lang="en-US" dirty="0"/>
              <a:t>Bright motor car dealership</a:t>
            </a:r>
            <a:br>
              <a:rPr lang="en-US" dirty="0"/>
            </a:b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06F8B2E-A7F5-4413-BEED-BFF7C3D9F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9616" y="3212975"/>
            <a:ext cx="7272808" cy="1080121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Sales And Revenue Analysis</a:t>
            </a:r>
          </a:p>
          <a:p>
            <a:r>
              <a:rPr lang="en-US" dirty="0"/>
              <a:t>By Hlengiwe</a:t>
            </a:r>
          </a:p>
        </p:txBody>
      </p:sp>
    </p:spTree>
    <p:extLst>
      <p:ext uri="{BB962C8B-B14F-4D97-AF65-F5344CB8AC3E}">
        <p14:creationId xmlns:p14="http://schemas.microsoft.com/office/powerpoint/2010/main" val="313522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150651E3-0682-462A-BDFB-53989E924F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DB7EA-5295-43BC-8DB9-9467A12855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4CFDF1-FCA0-49D7-B848-330EA5BEFD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D18B527-349E-40D7-A61B-E4B366DC3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809" y="1326767"/>
            <a:ext cx="5864382" cy="4550505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50D8CF9-6D9F-4D73-8BC5-49D5007F0F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ZA" dirty="0"/>
              <a:t>Sales analysis by car make</a:t>
            </a:r>
          </a:p>
          <a:p>
            <a:r>
              <a:rPr lang="en-ZA" dirty="0"/>
              <a:t>. Ford is the mostly sold car followed by Chevrolet then BMW</a:t>
            </a:r>
          </a:p>
          <a:p>
            <a:r>
              <a:rPr lang="en-ZA" dirty="0"/>
              <a:t>. The stock of these cars needs to be increased as they are on demand</a:t>
            </a:r>
          </a:p>
          <a:p>
            <a:r>
              <a:rPr lang="en-ZA" dirty="0"/>
              <a:t>. Volvo, </a:t>
            </a:r>
            <a:r>
              <a:rPr lang="en-ZA" dirty="0" err="1"/>
              <a:t>Meserati</a:t>
            </a:r>
            <a:r>
              <a:rPr lang="en-ZA" dirty="0"/>
              <a:t> and Mini are poorly </a:t>
            </a:r>
            <a:r>
              <a:rPr lang="en-ZA" dirty="0" err="1"/>
              <a:t>perfoming</a:t>
            </a:r>
            <a:endParaRPr lang="en-ZA" dirty="0"/>
          </a:p>
          <a:p>
            <a:r>
              <a:rPr lang="en-ZA" dirty="0"/>
              <a:t>. Theirs stock needs to be </a:t>
            </a:r>
            <a:r>
              <a:rPr lang="en-ZA" dirty="0" err="1"/>
              <a:t>reducesd</a:t>
            </a:r>
            <a:r>
              <a:rPr lang="en-ZA" dirty="0"/>
              <a:t> cause they are not contributing to total sales 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6F466B1-8E80-4096-B21B-ACD7AB2EC2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9418352"/>
              </p:ext>
            </p:extLst>
          </p:nvPr>
        </p:nvGraphicFramePr>
        <p:xfrm>
          <a:off x="3810000" y="144062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57021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50AB65D-2E31-4349-B3C6-F3156460CD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1C4E5-8816-4DFA-AD7D-744120F17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6AAAB1-E90B-4144-B41C-23D09C6CAE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9C7172-5FFA-4202-B50D-61B4D57FB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809" y="692696"/>
            <a:ext cx="5864382" cy="5184576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34A421C-16D1-47F2-9364-F9FDF26579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9707" y="4417667"/>
            <a:ext cx="4072586" cy="1343052"/>
          </a:xfrm>
        </p:spPr>
        <p:txBody>
          <a:bodyPr>
            <a:normAutofit fontScale="92500" lnSpcReduction="20000"/>
          </a:bodyPr>
          <a:lstStyle/>
          <a:p>
            <a:r>
              <a:rPr lang="en-ZA" dirty="0"/>
              <a:t>Sales By Car Model</a:t>
            </a:r>
          </a:p>
          <a:p>
            <a:r>
              <a:rPr lang="en-ZA" dirty="0"/>
              <a:t>. Fiesta is the best selling followed by X6 then </a:t>
            </a:r>
            <a:r>
              <a:rPr lang="en-ZA" dirty="0" err="1"/>
              <a:t>Mastang</a:t>
            </a:r>
            <a:endParaRPr lang="en-ZA" dirty="0"/>
          </a:p>
          <a:p>
            <a:r>
              <a:rPr lang="en-ZA" dirty="0"/>
              <a:t>. Spark, QX60 and Cayman are poorly </a:t>
            </a:r>
            <a:r>
              <a:rPr lang="en-ZA" dirty="0" err="1"/>
              <a:t>perfoming</a:t>
            </a:r>
            <a:endParaRPr lang="en-ZA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ED7B83D-F3AF-42C2-8846-C5299B8F3A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0418458"/>
              </p:ext>
            </p:extLst>
          </p:nvPr>
        </p:nvGraphicFramePr>
        <p:xfrm>
          <a:off x="3758750" y="836712"/>
          <a:ext cx="4572000" cy="29713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23926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8212CFE-0EE9-4DB7-BF25-9C8CB8D06F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03C21-5B75-44E9-AA30-C423A6C1C5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21A9C-91F9-41F7-BD0B-4C7CF589DA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E05F3A-BC50-48A6-AE3A-DD7236280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809" y="764704"/>
            <a:ext cx="5864382" cy="4896544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7EAE89C-427E-49CF-922F-C7FFA0274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9707" y="4297678"/>
            <a:ext cx="4072586" cy="1795617"/>
          </a:xfrm>
        </p:spPr>
        <p:txBody>
          <a:bodyPr/>
          <a:lstStyle/>
          <a:p>
            <a:r>
              <a:rPr lang="en-ZA" sz="1400" dirty="0"/>
              <a:t>Sales By Transmission</a:t>
            </a:r>
          </a:p>
          <a:p>
            <a:r>
              <a:rPr lang="en-ZA" sz="1400" dirty="0"/>
              <a:t>.The best selling car transmission is </a:t>
            </a:r>
            <a:r>
              <a:rPr lang="en-ZA" sz="1400" dirty="0" err="1"/>
              <a:t>automatinc</a:t>
            </a:r>
            <a:r>
              <a:rPr lang="en-ZA" sz="1400" dirty="0"/>
              <a:t> followed by others then manual</a:t>
            </a:r>
          </a:p>
          <a:p>
            <a:r>
              <a:rPr lang="en-ZA" sz="1400" dirty="0"/>
              <a:t>. Automatic car stock needs to be increased as it is highly on demand</a:t>
            </a:r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F4AE471-1A2B-4131-8EA8-54E44CEC5A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644392"/>
              </p:ext>
            </p:extLst>
          </p:nvPr>
        </p:nvGraphicFramePr>
        <p:xfrm>
          <a:off x="3810000" y="76470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75546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E97F9D4-0FCF-40DE-8682-9326718FF4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8147A-F2C6-4F3A-911E-F6B4AC20DE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0A368-3223-4A90-95F0-54E2F71D1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D8B6F4-2960-48FB-9D9F-9CC0B50F9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809" y="764704"/>
            <a:ext cx="5864382" cy="4752528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66819BC-8858-4F48-B739-E65FCC78E6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ZA" dirty="0"/>
              <a:t>Sales By </a:t>
            </a:r>
            <a:r>
              <a:rPr lang="en-ZA" dirty="0" err="1"/>
              <a:t>Color</a:t>
            </a:r>
            <a:endParaRPr lang="en-ZA" dirty="0"/>
          </a:p>
          <a:p>
            <a:r>
              <a:rPr lang="en-ZA" dirty="0"/>
              <a:t>. White car is best selling followed by black then </a:t>
            </a:r>
            <a:r>
              <a:rPr lang="en-ZA" dirty="0" err="1"/>
              <a:t>gray</a:t>
            </a:r>
            <a:endParaRPr lang="en-ZA" dirty="0"/>
          </a:p>
          <a:p>
            <a:r>
              <a:rPr lang="en-ZA" dirty="0"/>
              <a:t>. The stock of these </a:t>
            </a:r>
            <a:r>
              <a:rPr lang="en-ZA" dirty="0" err="1"/>
              <a:t>colors</a:t>
            </a:r>
            <a:r>
              <a:rPr lang="en-ZA" dirty="0"/>
              <a:t> needs to be increases</a:t>
            </a:r>
          </a:p>
          <a:p>
            <a:r>
              <a:rPr lang="en-ZA" dirty="0"/>
              <a:t>. Orange, gold and burgundy are less selling </a:t>
            </a:r>
            <a:r>
              <a:rPr lang="en-ZA" dirty="0" err="1"/>
              <a:t>colors</a:t>
            </a:r>
            <a:endParaRPr lang="en-ZA" dirty="0"/>
          </a:p>
          <a:p>
            <a:r>
              <a:rPr lang="en-ZA" dirty="0"/>
              <a:t>. Their stock </a:t>
            </a:r>
            <a:r>
              <a:rPr lang="en-ZA" dirty="0" err="1"/>
              <a:t>cn</a:t>
            </a:r>
            <a:r>
              <a:rPr lang="en-ZA" dirty="0"/>
              <a:t> be reduces as they are not in demand 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BC3A381-44A5-4ACC-A449-3AA2D016D6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5519758"/>
              </p:ext>
            </p:extLst>
          </p:nvPr>
        </p:nvGraphicFramePr>
        <p:xfrm>
          <a:off x="3935760" y="91263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43121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0128F93-BC12-46B5-9669-AF3B94AEFEB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00AC0-E561-42A8-82EC-A70B1EE379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4CDA7D-F781-4121-AEE1-2074E659F2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B79E2F-31FA-4D06-BFA5-5EDA9CF86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809" y="692696"/>
            <a:ext cx="5864382" cy="5184576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A110853-A49B-4D99-B863-ABCB2C9767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ZA" sz="1800" dirty="0"/>
              <a:t>Sales By Interior</a:t>
            </a:r>
          </a:p>
          <a:p>
            <a:r>
              <a:rPr lang="en-ZA" sz="1800" dirty="0"/>
              <a:t>. Point black interior is highly sold followed by </a:t>
            </a:r>
            <a:r>
              <a:rPr lang="en-ZA" sz="1800" dirty="0" err="1"/>
              <a:t>poing</a:t>
            </a:r>
            <a:r>
              <a:rPr lang="en-ZA" sz="1800" dirty="0"/>
              <a:t> </a:t>
            </a:r>
            <a:r>
              <a:rPr lang="en-ZA" sz="1800" dirty="0" err="1"/>
              <a:t>gray</a:t>
            </a:r>
            <a:r>
              <a:rPr lang="en-ZA" sz="1800" dirty="0"/>
              <a:t> then point tan interior</a:t>
            </a:r>
          </a:p>
          <a:p>
            <a:r>
              <a:rPr lang="en-ZA" sz="1800" dirty="0"/>
              <a:t>. The stock of the above interiors needs to be increased</a:t>
            </a:r>
          </a:p>
          <a:p>
            <a:r>
              <a:rPr lang="en-ZA" sz="1800" dirty="0"/>
              <a:t>. Stock of less sold interior needs to be reduced</a:t>
            </a:r>
          </a:p>
          <a:p>
            <a:endParaRPr lang="en-ZA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9BF5639-E7BF-412A-BA64-DF1BB5EA90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0045273"/>
              </p:ext>
            </p:extLst>
          </p:nvPr>
        </p:nvGraphicFramePr>
        <p:xfrm>
          <a:off x="3758750" y="76470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84739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FE9DE766-7938-476B-846E-CD212B574A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4356A-AD77-4EAA-B5AC-13583396BD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6440B1-6AA0-4336-BAF5-4D03E80EF6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2DD6F3E-1052-40EF-979B-08879D155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3632" y="764704"/>
            <a:ext cx="5864382" cy="4896544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D819C7E-5C2F-44C0-A47A-395EF8F77A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ZA" dirty="0"/>
              <a:t>Sales By Year</a:t>
            </a:r>
          </a:p>
          <a:p>
            <a:r>
              <a:rPr lang="en-ZA" dirty="0"/>
              <a:t>. Year 2014 was the best selling followed by 2013 then 2012</a:t>
            </a:r>
          </a:p>
          <a:p>
            <a:r>
              <a:rPr lang="en-ZA" dirty="0"/>
              <a:t>. 2003, 2004 and 2005 are poorly </a:t>
            </a:r>
            <a:r>
              <a:rPr lang="en-ZA" dirty="0" err="1"/>
              <a:t>perfoming</a:t>
            </a:r>
            <a:r>
              <a:rPr lang="en-ZA" dirty="0"/>
              <a:t> on sales their stock needs to be reduced.</a:t>
            </a:r>
          </a:p>
          <a:p>
            <a:r>
              <a:rPr lang="en-ZA" dirty="0"/>
              <a:t>.Stock of best selling years needs to be increased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1E40B91-4C3C-44D6-AAA3-BE6510DAE5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7426184"/>
              </p:ext>
            </p:extLst>
          </p:nvPr>
        </p:nvGraphicFramePr>
        <p:xfrm>
          <a:off x="3429823" y="764704"/>
          <a:ext cx="4572000" cy="3027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03548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530DC73-AF80-4DFC-B576-5FE87C47568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3ED11-7A9A-490D-9056-D060EA6E26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1BC18-8111-4389-83E0-582D23AF1C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030D64-3F5C-4216-AD1D-3D99845DB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809" y="764704"/>
            <a:ext cx="5864382" cy="4824536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F29B5B8-507D-477C-BAEF-7FEF1712E6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ZA" dirty="0"/>
              <a:t>Revenue By Make</a:t>
            </a:r>
          </a:p>
          <a:p>
            <a:r>
              <a:rPr lang="en-ZA" dirty="0"/>
              <a:t>. BMW generates more revenue followed by Ford then </a:t>
            </a:r>
            <a:r>
              <a:rPr lang="en-ZA" dirty="0" err="1"/>
              <a:t>Mercedec</a:t>
            </a:r>
            <a:r>
              <a:rPr lang="en-ZA" dirty="0"/>
              <a:t> Benz</a:t>
            </a:r>
          </a:p>
          <a:p>
            <a:r>
              <a:rPr lang="en-ZA" dirty="0"/>
              <a:t>. The stock of these cars  needs to be increased and expand its promotion</a:t>
            </a:r>
          </a:p>
          <a:p>
            <a:r>
              <a:rPr lang="en-ZA" dirty="0"/>
              <a:t>. </a:t>
            </a:r>
            <a:r>
              <a:rPr lang="en-ZA" dirty="0" err="1"/>
              <a:t>Mitsubish</a:t>
            </a:r>
            <a:r>
              <a:rPr lang="en-ZA" dirty="0"/>
              <a:t>, Mini and Mercury do not generate any revenue</a:t>
            </a:r>
          </a:p>
          <a:p>
            <a:r>
              <a:rPr lang="en-ZA" dirty="0"/>
              <a:t>. Their stock need to be removed its not generating any revenue at all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C905258-3FA1-4F8B-83EA-F4299A60AF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6141260"/>
              </p:ext>
            </p:extLst>
          </p:nvPr>
        </p:nvGraphicFramePr>
        <p:xfrm>
          <a:off x="3758750" y="83671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11419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12B51B16-E799-494A-B06D-80F65F4D9E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8D719-43B9-4988-B542-B91921185E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CCFCA-C8A9-4818-8A6F-A20D825D808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A0CBB9-D347-473C-B2E4-73CF7391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809" y="609600"/>
            <a:ext cx="5864382" cy="5195664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1BAAAC2-2966-4628-90E7-8246FDB5DC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ZA" dirty="0"/>
              <a:t>. Revenue By Model</a:t>
            </a:r>
          </a:p>
          <a:p>
            <a:r>
              <a:rPr lang="en-ZA" dirty="0"/>
              <a:t>. SUPERDUTY generates more revenue followed by X6 then Mustang SVT</a:t>
            </a:r>
          </a:p>
          <a:p>
            <a:r>
              <a:rPr lang="en-ZA" dirty="0"/>
              <a:t>. Their stock needs to be increased and expand its promotion</a:t>
            </a:r>
          </a:p>
          <a:p>
            <a:r>
              <a:rPr lang="en-ZA" dirty="0"/>
              <a:t>. Stock of poor </a:t>
            </a:r>
            <a:r>
              <a:rPr lang="en-ZA" dirty="0" err="1"/>
              <a:t>pefoming</a:t>
            </a:r>
            <a:r>
              <a:rPr lang="en-ZA" dirty="0"/>
              <a:t> cars like C-class, Camaro and Mazda3 needs to be reduced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D909DCF-EF87-4DCA-A70B-64E93C0253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3456841"/>
              </p:ext>
            </p:extLst>
          </p:nvPr>
        </p:nvGraphicFramePr>
        <p:xfrm>
          <a:off x="3758750" y="67696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14579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5D51158-68D9-4E3F-A770-FBFBFBDF80A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9DD5F-5827-44E8-8130-97668B3670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C4C83D-B41D-41A2-A873-A3676CEAD3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52635CC-6665-4E81-B587-201678655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809" y="764703"/>
            <a:ext cx="5864382" cy="4996015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872FBAD-4A4F-4FA5-9FF7-7F9CA2DDBE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ZA" dirty="0"/>
              <a:t>Revenue By </a:t>
            </a:r>
            <a:r>
              <a:rPr lang="en-ZA" dirty="0" err="1"/>
              <a:t>Color</a:t>
            </a:r>
            <a:endParaRPr lang="en-ZA" dirty="0"/>
          </a:p>
          <a:p>
            <a:r>
              <a:rPr lang="en-ZA" dirty="0" err="1"/>
              <a:t>Color</a:t>
            </a:r>
            <a:r>
              <a:rPr lang="en-ZA" dirty="0"/>
              <a:t> that generates more revenue is white, followed by black then </a:t>
            </a:r>
            <a:r>
              <a:rPr lang="en-ZA" dirty="0" err="1"/>
              <a:t>gray</a:t>
            </a:r>
            <a:endParaRPr lang="en-ZA" dirty="0"/>
          </a:p>
          <a:p>
            <a:r>
              <a:rPr lang="en-ZA" dirty="0"/>
              <a:t>. The stock of these </a:t>
            </a:r>
            <a:r>
              <a:rPr lang="en-ZA" dirty="0" err="1"/>
              <a:t>colors</a:t>
            </a:r>
            <a:r>
              <a:rPr lang="en-ZA" dirty="0"/>
              <a:t> needs to be increased as they generate more revenue</a:t>
            </a:r>
          </a:p>
          <a:p>
            <a:r>
              <a:rPr lang="en-ZA" dirty="0"/>
              <a:t>. Purple, Off=white and charcoal </a:t>
            </a:r>
            <a:r>
              <a:rPr lang="en-ZA" dirty="0" err="1"/>
              <a:t>color</a:t>
            </a:r>
            <a:r>
              <a:rPr lang="en-ZA" dirty="0"/>
              <a:t> stock needs to be removed as they are not generating any revenue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2575E04-8061-4457-AA82-33D34E5E0B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288371"/>
              </p:ext>
            </p:extLst>
          </p:nvPr>
        </p:nvGraphicFramePr>
        <p:xfrm>
          <a:off x="3810000" y="76470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41958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C481063-E47A-4255-87F1-AA281C63FA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20749-1B8A-45F8-836D-7647B05BB2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A0E8C-833D-4815-B737-75DDFAF3BA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B6791C-3E6B-4069-A383-031DB2952F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809" y="692696"/>
            <a:ext cx="5864382" cy="4968552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4A13545-9CF2-4D77-8034-2EB450180F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ZA" dirty="0"/>
              <a:t>Revenue By Interior</a:t>
            </a:r>
          </a:p>
          <a:p>
            <a:r>
              <a:rPr lang="en-ZA" dirty="0"/>
              <a:t>. Black, </a:t>
            </a:r>
            <a:r>
              <a:rPr lang="en-ZA" dirty="0" err="1"/>
              <a:t>gray</a:t>
            </a:r>
            <a:r>
              <a:rPr lang="en-ZA" dirty="0"/>
              <a:t> and gold interior generates more revenue their stock needs to be expanded and promoted more</a:t>
            </a:r>
          </a:p>
          <a:p>
            <a:r>
              <a:rPr lang="en-ZA" dirty="0"/>
              <a:t>. Reduce the stock of poor </a:t>
            </a:r>
            <a:r>
              <a:rPr lang="en-ZA" dirty="0" err="1"/>
              <a:t>perfoming</a:t>
            </a:r>
            <a:r>
              <a:rPr lang="en-ZA" dirty="0"/>
              <a:t> interior like off-white, orange and purple they are not on demand</a:t>
            </a:r>
          </a:p>
          <a:p>
            <a:endParaRPr lang="en-ZA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EB3B776-13EF-4056-94FB-A18B6C7241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245200"/>
              </p:ext>
            </p:extLst>
          </p:nvPr>
        </p:nvGraphicFramePr>
        <p:xfrm>
          <a:off x="3935760" y="76470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83012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E1DF833-AC8F-44DC-BDA7-9ED110703F3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ECDD0-7FB2-46FF-B87D-9F699101FC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CF5B5-FD12-4B2C-B86F-FA11B63B2D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DCE15C-5DEC-49BF-8B63-0624C7E4A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809" y="692696"/>
            <a:ext cx="5864382" cy="5256584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15B73AD-E804-40D6-9570-E60EEFE72D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ZA" sz="1400" dirty="0"/>
              <a:t>Revenue By Year</a:t>
            </a:r>
          </a:p>
          <a:p>
            <a:r>
              <a:rPr lang="en-ZA" sz="1400" dirty="0"/>
              <a:t>. 2014, 2012 and 2015 generates more revenue , theirs stock needs to be expanded.</a:t>
            </a:r>
          </a:p>
          <a:p>
            <a:r>
              <a:rPr lang="en-ZA" dirty="0"/>
              <a:t>. Poorly </a:t>
            </a:r>
            <a:r>
              <a:rPr lang="en-ZA" dirty="0" err="1"/>
              <a:t>perfoming</a:t>
            </a:r>
            <a:r>
              <a:rPr lang="en-ZA" dirty="0"/>
              <a:t> years like 1982 to 2002 stock needs to be removed as it generates no revenue at all</a:t>
            </a:r>
          </a:p>
          <a:p>
            <a:endParaRPr lang="en-ZA" dirty="0"/>
          </a:p>
          <a:p>
            <a:endParaRPr lang="en-ZA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3723663-00D0-4B9E-BDD2-4E9FD52118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7522273"/>
              </p:ext>
            </p:extLst>
          </p:nvPr>
        </p:nvGraphicFramePr>
        <p:xfrm>
          <a:off x="3810000" y="83671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19617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E60F6EB-358C-450D-A0E3-79AEAA8F55D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CC53E-EBFA-42C7-8399-42C992BF5E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99A896-5BB3-4CDE-BD93-3455FB4DC4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73A98D0-E368-4CAB-B1A0-4D6BEC8A1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809" y="764704"/>
            <a:ext cx="5864382" cy="4608512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B0CC01C-5F95-4CEB-AB56-FE35AA935B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ZA" dirty="0"/>
              <a:t>Revenue By Transmission</a:t>
            </a:r>
          </a:p>
          <a:p>
            <a:r>
              <a:rPr lang="en-ZA" dirty="0"/>
              <a:t>.Automatic transmission generates more revenue about 83%</a:t>
            </a:r>
          </a:p>
          <a:p>
            <a:r>
              <a:rPr lang="en-ZA" dirty="0"/>
              <a:t>. Automatic car stock needs to be increased</a:t>
            </a:r>
          </a:p>
          <a:p>
            <a:r>
              <a:rPr lang="en-ZA" dirty="0"/>
              <a:t>. Manual cars generates less revenue only 5% of total revenue</a:t>
            </a:r>
          </a:p>
          <a:p>
            <a:r>
              <a:rPr lang="en-ZA" dirty="0"/>
              <a:t>.Manual car stock needs to be reduced as it is not on demand</a:t>
            </a:r>
          </a:p>
          <a:p>
            <a:endParaRPr lang="en-ZA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752C936-6CD0-4A2B-919B-36A21B608D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9743621"/>
              </p:ext>
            </p:extLst>
          </p:nvPr>
        </p:nvGraphicFramePr>
        <p:xfrm>
          <a:off x="3629780" y="76470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560140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BFCA5F6-1A5A-4D78-BDE2-C793B61E0E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A86D9CC-0D9D-4BFE-B3F3-26F480BF8C8A}">
  <ds:schemaRefs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terms/"/>
    <ds:schemaRef ds:uri="16c05727-aa75-4e4a-9b5f-8a80a1165891"/>
    <ds:schemaRef ds:uri="71af3243-3dd4-4a8d-8c0d-dd76da1f02a5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106BD98-E608-40A1-98A8-93D5976215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classic block presentation</Template>
  <TotalTime>0</TotalTime>
  <Words>551</Words>
  <Application>Microsoft Office PowerPoint</Application>
  <PresentationFormat>Widescreen</PresentationFormat>
  <Paragraphs>73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Tw Cen MT</vt:lpstr>
      <vt:lpstr>Tw Cen MT Condensed</vt:lpstr>
      <vt:lpstr>Wingdings 3</vt:lpstr>
      <vt:lpstr>ModernClassicBlock-3</vt:lpstr>
      <vt:lpstr>Bright motor car dealership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2025-11-13T01:57:16Z</dcterms:created>
  <dcterms:modified xsi:type="dcterms:W3CDTF">2025-11-13T03:10:53Z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